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9"/>
  </p:notesMasterIdLst>
  <p:sldIdLst>
    <p:sldId id="256" r:id="rId2"/>
    <p:sldId id="262" r:id="rId3"/>
    <p:sldId id="313" r:id="rId4"/>
    <p:sldId id="283" r:id="rId5"/>
    <p:sldId id="315" r:id="rId6"/>
    <p:sldId id="284" r:id="rId7"/>
    <p:sldId id="314" r:id="rId8"/>
    <p:sldId id="316" r:id="rId9"/>
    <p:sldId id="287" r:id="rId10"/>
    <p:sldId id="317" r:id="rId11"/>
    <p:sldId id="285" r:id="rId12"/>
    <p:sldId id="318" r:id="rId13"/>
    <p:sldId id="319" r:id="rId14"/>
    <p:sldId id="320" r:id="rId15"/>
    <p:sldId id="322" r:id="rId16"/>
    <p:sldId id="327" r:id="rId17"/>
    <p:sldId id="323" r:id="rId18"/>
    <p:sldId id="329" r:id="rId19"/>
    <p:sldId id="330" r:id="rId20"/>
    <p:sldId id="331" r:id="rId21"/>
    <p:sldId id="332" r:id="rId22"/>
    <p:sldId id="333" r:id="rId23"/>
    <p:sldId id="324" r:id="rId24"/>
    <p:sldId id="326" r:id="rId25"/>
    <p:sldId id="325" r:id="rId26"/>
    <p:sldId id="328" r:id="rId27"/>
    <p:sldId id="279" r:id="rId28"/>
  </p:sldIdLst>
  <p:sldSz cx="18288000" cy="10287000"/>
  <p:notesSz cx="6858000" cy="9144000"/>
  <p:embeddedFontLst>
    <p:embeddedFont>
      <p:font typeface="Malgun Gothic" panose="020B0503020000020004" pitchFamily="34" charset="-127"/>
      <p:regular r:id="rId30"/>
      <p:bold r:id="rId31"/>
    </p:embeddedFont>
    <p:embeddedFont>
      <p:font typeface="Viner Hand ITC" panose="03070502030502020203" pitchFamily="66"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EB0"/>
    <a:srgbClr val="A6A6A6"/>
    <a:srgbClr val="7F7F7F"/>
    <a:srgbClr val="A2A2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0CFBD-2DEB-440F-9191-7BCF2F1F3C7B}" type="datetimeFigureOut">
              <a:rPr lang="en-US" smtClean="0"/>
              <a:t>9/4/2026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4245B8-2127-40CB-94F2-866A59635F23}" type="slidenum">
              <a:rPr lang="en-US" smtClean="0"/>
              <a:t>‹#›</a:t>
            </a:fld>
            <a:endParaRPr lang="en-US"/>
          </a:p>
        </p:txBody>
      </p:sp>
    </p:spTree>
    <p:extLst>
      <p:ext uri="{BB962C8B-B14F-4D97-AF65-F5344CB8AC3E}">
        <p14:creationId xmlns:p14="http://schemas.microsoft.com/office/powerpoint/2010/main" val="1471315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Google Shape;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 name="Google Shape;2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0" name="Google Shape;30;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Malgun Gothic"/>
              <a:buNone/>
            </a:pPr>
            <a:fld id="{00000000-1234-1234-1234-123412341234}" type="slidenum">
              <a:rPr lang="en-US" sz="1200" b="0" i="0" u="none" strike="noStrike" cap="none">
                <a:solidFill>
                  <a:srgbClr val="000000"/>
                </a:solidFill>
                <a:latin typeface="Malgun Gothic"/>
                <a:ea typeface="Malgun Gothic"/>
                <a:cs typeface="Malgun Gothic"/>
                <a:sym typeface="Malgun Gothic"/>
              </a:rPr>
              <a:t>1</a:t>
            </a:fld>
            <a:endParaRPr sz="1200" b="0" i="0" u="none" strike="noStrike" cap="none">
              <a:solidFill>
                <a:srgbClr val="000000"/>
              </a:solidFill>
              <a:latin typeface="Malgun Gothic"/>
              <a:ea typeface="Malgun Gothic"/>
              <a:cs typeface="Malgun Gothic"/>
              <a:sym typeface="Malgun Gothic"/>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 name="Google Shape;36;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37" name="Google Shape;37;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992858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503568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548060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668279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88475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209340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640283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 name="Google Shape;45;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Note:</a:t>
            </a:r>
            <a:endParaRPr/>
          </a:p>
        </p:txBody>
      </p:sp>
      <p:sp>
        <p:nvSpPr>
          <p:cNvPr id="46" name="Google Shape;46;p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40770003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7b6163dee3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7b6163dee3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g27b6163dee3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Interim Cover">
  <p:cSld name="Interim Cover">
    <p:bg>
      <p:bgPr>
        <a:solidFill>
          <a:srgbClr val="193EB0"/>
        </a:solidFill>
        <a:effectLst/>
      </p:bgPr>
    </p:bg>
    <p:spTree>
      <p:nvGrpSpPr>
        <p:cNvPr id="1" name="Shape 10"/>
        <p:cNvGrpSpPr/>
        <p:nvPr/>
      </p:nvGrpSpPr>
      <p:grpSpPr>
        <a:xfrm>
          <a:off x="0" y="0"/>
          <a:ext cx="0" cy="0"/>
          <a:chOff x="0" y="0"/>
          <a:chExt cx="0" cy="0"/>
        </a:xfrm>
      </p:grpSpPr>
      <p:pic>
        <p:nvPicPr>
          <p:cNvPr id="11" name="Google Shape;11;p44"/>
          <p:cNvPicPr preferRelativeResize="0"/>
          <p:nvPr/>
        </p:nvPicPr>
        <p:blipFill rotWithShape="1">
          <a:blip r:embed="rId2">
            <a:alphaModFix/>
          </a:blip>
          <a:srcRect/>
          <a:stretch/>
        </p:blipFill>
        <p:spPr>
          <a:xfrm>
            <a:off x="14643132" y="370513"/>
            <a:ext cx="2952967" cy="786137"/>
          </a:xfrm>
          <a:prstGeom prst="rect">
            <a:avLst/>
          </a:prstGeom>
          <a:noFill/>
          <a:ln>
            <a:noFill/>
          </a:ln>
        </p:spPr>
      </p:pic>
      <p:sp>
        <p:nvSpPr>
          <p:cNvPr id="12" name="Google Shape;12;p44"/>
          <p:cNvSpPr/>
          <p:nvPr/>
        </p:nvSpPr>
        <p:spPr>
          <a:xfrm>
            <a:off x="915806" y="605937"/>
            <a:ext cx="2513353" cy="315288"/>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lt1"/>
          </a:solidFill>
          <a:ln>
            <a:noFill/>
          </a:ln>
        </p:spPr>
        <p:txBody>
          <a:bodyPr spcFirstLastPara="1" wrap="square" lIns="137138" tIns="68550" rIns="137138" bIns="6855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27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974449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5"/>
        <p:cNvGrpSpPr/>
        <p:nvPr/>
      </p:nvGrpSpPr>
      <p:grpSpPr>
        <a:xfrm>
          <a:off x="0" y="0"/>
          <a:ext cx="0" cy="0"/>
          <a:chOff x="0" y="0"/>
          <a:chExt cx="0" cy="0"/>
        </a:xfrm>
      </p:grpSpPr>
      <p:sp>
        <p:nvSpPr>
          <p:cNvPr id="16" name="Google Shape;16;p46"/>
          <p:cNvSpPr/>
          <p:nvPr/>
        </p:nvSpPr>
        <p:spPr>
          <a:xfrm>
            <a:off x="1" y="0"/>
            <a:ext cx="18288000" cy="3105807"/>
          </a:xfrm>
          <a:prstGeom prst="rect">
            <a:avLst/>
          </a:prstGeom>
          <a:solidFill>
            <a:srgbClr val="193EB0"/>
          </a:solidFill>
          <a:ln>
            <a:noFill/>
          </a:ln>
        </p:spPr>
        <p:txBody>
          <a:bodyPr spcFirstLastPara="1" wrap="square" lIns="137138" tIns="68550" rIns="137138" bIns="68550" anchor="ctr" anchorCtr="0">
            <a:noAutofit/>
          </a:bodyPr>
          <a:lstStyle/>
          <a:p>
            <a:pPr marL="0" marR="0" lvl="0" indent="0" algn="ctr" rtl="0">
              <a:spcBef>
                <a:spcPts val="0"/>
              </a:spcBef>
              <a:spcAft>
                <a:spcPts val="0"/>
              </a:spcAft>
              <a:buNone/>
            </a:pPr>
            <a:endParaRPr sz="2700">
              <a:solidFill>
                <a:schemeClr val="lt1"/>
              </a:solidFill>
              <a:latin typeface="Arial"/>
              <a:ea typeface="Arial"/>
              <a:cs typeface="Arial"/>
              <a:sym typeface="Arial"/>
            </a:endParaRPr>
          </a:p>
        </p:txBody>
      </p:sp>
      <p:sp>
        <p:nvSpPr>
          <p:cNvPr id="17" name="Google Shape;17;p46"/>
          <p:cNvSpPr/>
          <p:nvPr/>
        </p:nvSpPr>
        <p:spPr>
          <a:xfrm>
            <a:off x="1057441" y="9533057"/>
            <a:ext cx="5334857"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a:solidFill>
                  <a:srgbClr val="7F7F7F"/>
                </a:solidFill>
                <a:latin typeface="Arial"/>
                <a:ea typeface="Arial"/>
                <a:cs typeface="Arial"/>
                <a:sym typeface="Arial"/>
              </a:rPr>
              <a:t>Samsung Innovation Campus</a:t>
            </a:r>
            <a:endParaRPr sz="2700"/>
          </a:p>
        </p:txBody>
      </p:sp>
    </p:spTree>
    <p:extLst>
      <p:ext uri="{BB962C8B-B14F-4D97-AF65-F5344CB8AC3E}">
        <p14:creationId xmlns:p14="http://schemas.microsoft.com/office/powerpoint/2010/main" val="7045199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ront Cover">
  <p:cSld name="Front Cover">
    <p:bg>
      <p:bgPr>
        <a:solidFill>
          <a:srgbClr val="193EB0"/>
        </a:solidFill>
        <a:effectLst/>
      </p:bgPr>
    </p:bg>
    <p:spTree>
      <p:nvGrpSpPr>
        <p:cNvPr id="1" name="Shape 13"/>
        <p:cNvGrpSpPr/>
        <p:nvPr/>
      </p:nvGrpSpPr>
      <p:grpSpPr>
        <a:xfrm>
          <a:off x="0" y="0"/>
          <a:ext cx="0" cy="0"/>
          <a:chOff x="0" y="0"/>
          <a:chExt cx="0" cy="0"/>
        </a:xfrm>
      </p:grpSpPr>
      <p:sp>
        <p:nvSpPr>
          <p:cNvPr id="14" name="Google Shape;14;p45"/>
          <p:cNvSpPr/>
          <p:nvPr/>
        </p:nvSpPr>
        <p:spPr>
          <a:xfrm>
            <a:off x="1057441" y="9533057"/>
            <a:ext cx="5334857"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chemeClr val="lt1"/>
                </a:solidFill>
                <a:latin typeface="Arial"/>
                <a:ea typeface="Arial"/>
                <a:cs typeface="Arial"/>
                <a:sym typeface="Arial"/>
              </a:rPr>
              <a:t>Samsung Innovation Campus</a:t>
            </a:r>
            <a:endParaRPr sz="2700"/>
          </a:p>
        </p:txBody>
      </p:sp>
    </p:spTree>
    <p:extLst>
      <p:ext uri="{BB962C8B-B14F-4D97-AF65-F5344CB8AC3E}">
        <p14:creationId xmlns:p14="http://schemas.microsoft.com/office/powerpoint/2010/main" val="3604307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 Cover">
  <p:cSld name="Back Cover">
    <p:bg>
      <p:bgPr>
        <a:solidFill>
          <a:srgbClr val="193EB0"/>
        </a:solidFill>
        <a:effectLst/>
      </p:bgPr>
    </p:bg>
    <p:spTree>
      <p:nvGrpSpPr>
        <p:cNvPr id="1" name="Shape 22"/>
        <p:cNvGrpSpPr/>
        <p:nvPr/>
      </p:nvGrpSpPr>
      <p:grpSpPr>
        <a:xfrm>
          <a:off x="0" y="0"/>
          <a:ext cx="0" cy="0"/>
          <a:chOff x="0" y="0"/>
          <a:chExt cx="0" cy="0"/>
        </a:xfrm>
      </p:grpSpPr>
      <p:sp>
        <p:nvSpPr>
          <p:cNvPr id="23" name="Google Shape;23;p48"/>
          <p:cNvSpPr/>
          <p:nvPr/>
        </p:nvSpPr>
        <p:spPr>
          <a:xfrm>
            <a:off x="1095078" y="8446562"/>
            <a:ext cx="17192922" cy="11028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1000"/>
              <a:buFont typeface="Arial"/>
              <a:buNone/>
            </a:pPr>
            <a:r>
              <a:rPr lang="en-US" sz="1500" b="0" i="0" u="none" strike="noStrike" cap="none">
                <a:solidFill>
                  <a:srgbClr val="FFFFFF"/>
                </a:solidFill>
                <a:latin typeface="Arial"/>
                <a:ea typeface="Arial"/>
                <a:cs typeface="Arial"/>
                <a:sym typeface="Arial"/>
              </a:rPr>
              <a:t>ⓒ2020 SAMSUNG. All rights reserved.</a:t>
            </a:r>
            <a:endParaRPr sz="2700"/>
          </a:p>
          <a:p>
            <a:pPr marL="0" marR="0" lvl="0" indent="0" algn="l" rtl="0">
              <a:lnSpc>
                <a:spcPct val="100000"/>
              </a:lnSpc>
              <a:spcBef>
                <a:spcPts val="900"/>
              </a:spcBef>
              <a:spcAft>
                <a:spcPts val="0"/>
              </a:spcAft>
              <a:buClr>
                <a:srgbClr val="FFFFFF"/>
              </a:buClr>
              <a:buSzPts val="1000"/>
              <a:buFont typeface="Arial"/>
              <a:buNone/>
            </a:pPr>
            <a:r>
              <a:rPr lang="en-US" sz="1500" b="0" i="0" u="none" strike="noStrike" cap="none">
                <a:solidFill>
                  <a:srgbClr val="FFFFFF"/>
                </a:solidFill>
                <a:latin typeface="Arial"/>
                <a:ea typeface="Arial"/>
                <a:cs typeface="Arial"/>
                <a:sym typeface="Arial"/>
              </a:rPr>
              <a:t>Samsung Electronics Corporate Citizenship Office holds the copyright of book.</a:t>
            </a:r>
            <a:endParaRPr sz="2700"/>
          </a:p>
          <a:p>
            <a:pPr marL="0" marR="0" lvl="0" indent="0" algn="l" rtl="0">
              <a:lnSpc>
                <a:spcPct val="100000"/>
              </a:lnSpc>
              <a:spcBef>
                <a:spcPts val="450"/>
              </a:spcBef>
              <a:spcAft>
                <a:spcPts val="0"/>
              </a:spcAft>
              <a:buClr>
                <a:srgbClr val="FFFFFF"/>
              </a:buClr>
              <a:buSzPts val="1000"/>
              <a:buFont typeface="Arial"/>
              <a:buNone/>
            </a:pPr>
            <a:r>
              <a:rPr lang="en-US" sz="1500" b="0" i="0" u="none" strike="noStrike" cap="none">
                <a:solidFill>
                  <a:srgbClr val="FFFFFF"/>
                </a:solidFill>
                <a:latin typeface="Arial"/>
                <a:ea typeface="Arial"/>
                <a:cs typeface="Arial"/>
                <a:sym typeface="Arial"/>
              </a:rPr>
              <a:t>This book is a literary property protected by copyright law so reprint and reproduction without permission are prohibited. </a:t>
            </a:r>
            <a:endParaRPr sz="2700"/>
          </a:p>
          <a:p>
            <a:pPr marL="0" marR="0" lvl="0" indent="0" algn="l" rtl="0">
              <a:lnSpc>
                <a:spcPct val="100000"/>
              </a:lnSpc>
              <a:spcBef>
                <a:spcPts val="0"/>
              </a:spcBef>
              <a:spcAft>
                <a:spcPts val="0"/>
              </a:spcAft>
              <a:buClr>
                <a:srgbClr val="FFFFFF"/>
              </a:buClr>
              <a:buSzPts val="1000"/>
              <a:buFont typeface="Arial"/>
              <a:buNone/>
            </a:pPr>
            <a:r>
              <a:rPr lang="en-US" sz="1500" b="0" i="0" u="none" strike="noStrike" cap="none">
                <a:solidFill>
                  <a:srgbClr val="FFFFFF"/>
                </a:solidFill>
                <a:latin typeface="Arial"/>
                <a:ea typeface="Arial"/>
                <a:cs typeface="Arial"/>
                <a:sym typeface="Arial"/>
              </a:rPr>
              <a:t>To use this book other than the curriculum of Samsung innovation Campus or to use the entire or part of this book, you must receive written consent from copyright holder.</a:t>
            </a:r>
            <a:endParaRPr sz="2700"/>
          </a:p>
        </p:txBody>
      </p:sp>
      <p:sp>
        <p:nvSpPr>
          <p:cNvPr id="24" name="Google Shape;24;p48"/>
          <p:cNvSpPr/>
          <p:nvPr/>
        </p:nvSpPr>
        <p:spPr>
          <a:xfrm>
            <a:off x="14896875" y="605937"/>
            <a:ext cx="2513353" cy="315288"/>
          </a:xfrm>
          <a:custGeom>
            <a:avLst/>
            <a:gdLst/>
            <a:ahLst/>
            <a:cxnLst/>
            <a:rect l="l" t="t" r="r" b="b"/>
            <a:pathLst>
              <a:path w="2179" h="334" extrusionOk="0">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lt1"/>
          </a:solidFill>
          <a:ln>
            <a:noFill/>
          </a:ln>
        </p:spPr>
        <p:txBody>
          <a:bodyPr spcFirstLastPara="1" wrap="square" lIns="137138" tIns="68550" rIns="137138" bIns="6855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2700" b="0" i="0" u="none" strike="noStrike" cap="none">
              <a:solidFill>
                <a:srgbClr val="000000"/>
              </a:solidFill>
              <a:latin typeface="Calibri"/>
              <a:ea typeface="Calibri"/>
              <a:cs typeface="Calibri"/>
              <a:sym typeface="Calibri"/>
            </a:endParaRPr>
          </a:p>
        </p:txBody>
      </p:sp>
      <p:pic>
        <p:nvPicPr>
          <p:cNvPr id="25" name="Google Shape;25;p48"/>
          <p:cNvPicPr preferRelativeResize="0"/>
          <p:nvPr/>
        </p:nvPicPr>
        <p:blipFill rotWithShape="1">
          <a:blip r:embed="rId2">
            <a:alphaModFix/>
          </a:blip>
          <a:srcRect/>
          <a:stretch/>
        </p:blipFill>
        <p:spPr>
          <a:xfrm>
            <a:off x="6041182" y="3943319"/>
            <a:ext cx="6205635" cy="1653207"/>
          </a:xfrm>
          <a:prstGeom prst="rect">
            <a:avLst/>
          </a:prstGeom>
          <a:noFill/>
          <a:ln>
            <a:noFill/>
          </a:ln>
        </p:spPr>
      </p:pic>
    </p:spTree>
    <p:extLst>
      <p:ext uri="{BB962C8B-B14F-4D97-AF65-F5344CB8AC3E}">
        <p14:creationId xmlns:p14="http://schemas.microsoft.com/office/powerpoint/2010/main" val="3897101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linkedin.com/in/vhmedm0hamed2005313/" TargetMode="External"/><Relationship Id="rId7" Type="http://schemas.openxmlformats.org/officeDocument/2006/relationships/hyperlink" Target="http://www.linkedin.com/in/sara-mohamed-a65a8426b"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hyperlink" Target="https://www.linkedin.com/in/adham-mohamed-397bb6390?utm_source=share_via&amp;utm_content=profile&amp;utm_medium=member_android" TargetMode="External"/><Relationship Id="rId11" Type="http://schemas.openxmlformats.org/officeDocument/2006/relationships/image" Target="../media/image10.png"/><Relationship Id="rId5" Type="http://schemas.openxmlformats.org/officeDocument/2006/relationships/hyperlink" Target="https://www.linkedin.com/in/youssef-khaled-a36174286/" TargetMode="External"/><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3015733" y="4112208"/>
            <a:ext cx="13102949" cy="1015650"/>
          </a:xfrm>
          <a:prstGeom prst="rect">
            <a:avLst/>
          </a:prstGeom>
          <a:noFill/>
          <a:ln>
            <a:noFill/>
          </a:ln>
        </p:spPr>
        <p:txBody>
          <a:bodyPr spcFirstLastPara="1" wrap="square" lIns="0" tIns="0" rIns="0" bIns="0" anchor="t" anchorCtr="0">
            <a:noAutofit/>
          </a:bodyPr>
          <a:lstStyle/>
          <a:p>
            <a:pPr>
              <a:buClr>
                <a:srgbClr val="FFFFFF"/>
              </a:buClr>
              <a:buSzPts val="4400"/>
            </a:pPr>
            <a:r>
              <a:rPr lang="en-US" sz="5100" b="1" i="0" u="none" strike="noStrike" baseline="0" dirty="0">
                <a:solidFill>
                  <a:schemeClr val="bg1"/>
                </a:solidFill>
                <a:latin typeface="Arial" panose="020B0604020202020204" pitchFamily="34" charset="0"/>
              </a:rPr>
              <a:t>Customer</a:t>
            </a:r>
            <a:r>
              <a:rPr lang="ar-EG" sz="5100" b="1" i="0" u="none" strike="noStrike" baseline="0" dirty="0">
                <a:solidFill>
                  <a:schemeClr val="bg1"/>
                </a:solidFill>
                <a:latin typeface="Arial" panose="020B0604020202020204" pitchFamily="34" charset="0"/>
              </a:rPr>
              <a:t> </a:t>
            </a:r>
            <a:r>
              <a:rPr lang="en-US" sz="5100" b="1" i="0" u="none" strike="noStrike" baseline="0" dirty="0">
                <a:solidFill>
                  <a:schemeClr val="bg1"/>
                </a:solidFill>
                <a:latin typeface="Arial" panose="020B0604020202020204" pitchFamily="34" charset="0"/>
              </a:rPr>
              <a:t>Churn Management</a:t>
            </a:r>
            <a:endParaRPr lang="en-US" sz="5100" b="1" dirty="0">
              <a:solidFill>
                <a:schemeClr val="bg1"/>
              </a:solidFill>
              <a:latin typeface="Arial"/>
              <a:ea typeface="Arial"/>
              <a:cs typeface="Arial"/>
              <a:sym typeface="Arial"/>
            </a:endParaRPr>
          </a:p>
        </p:txBody>
      </p:sp>
      <p:sp>
        <p:nvSpPr>
          <p:cNvPr id="85" name="Google Shape;85;p1"/>
          <p:cNvSpPr/>
          <p:nvPr/>
        </p:nvSpPr>
        <p:spPr>
          <a:xfrm>
            <a:off x="3015734" y="5847366"/>
            <a:ext cx="9067500" cy="553950"/>
          </a:xfrm>
          <a:prstGeom prst="rect">
            <a:avLst/>
          </a:prstGeom>
          <a:noFill/>
          <a:ln>
            <a:noFill/>
          </a:ln>
        </p:spPr>
        <p:txBody>
          <a:bodyPr spcFirstLastPara="1" wrap="square" lIns="0" tIns="0" rIns="0" bIns="0" anchor="ctr" anchorCtr="0">
            <a:noAutofit/>
          </a:bodyPr>
          <a:lstStyle/>
          <a:p>
            <a:pPr>
              <a:buClr>
                <a:srgbClr val="00B3E3"/>
              </a:buClr>
              <a:buSzPts val="2400"/>
            </a:pPr>
            <a:r>
              <a:rPr lang="en-US" sz="3600" dirty="0">
                <a:solidFill>
                  <a:schemeClr val="bg1"/>
                </a:solidFill>
              </a:rPr>
              <a:t>SIC 801 Team 2</a:t>
            </a:r>
          </a:p>
        </p:txBody>
      </p:sp>
      <p:sp>
        <p:nvSpPr>
          <p:cNvPr id="2" name="Google Shape;40;p2">
            <a:extLst>
              <a:ext uri="{FF2B5EF4-FFF2-40B4-BE49-F238E27FC236}">
                <a16:creationId xmlns:a16="http://schemas.microsoft.com/office/drawing/2014/main" id="{4D6E79AD-A326-7676-B9BA-D473A9DDA013}"/>
              </a:ext>
            </a:extLst>
          </p:cNvPr>
          <p:cNvSpPr/>
          <p:nvPr/>
        </p:nvSpPr>
        <p:spPr>
          <a:xfrm>
            <a:off x="3015732" y="6401267"/>
            <a:ext cx="2356650" cy="484748"/>
          </a:xfrm>
          <a:prstGeom prst="rect">
            <a:avLst/>
          </a:prstGeom>
          <a:noFill/>
          <a:ln>
            <a:noFill/>
          </a:ln>
        </p:spPr>
        <p:txBody>
          <a:bodyPr spcFirstLastPara="1" wrap="square" lIns="0" tIns="0" rIns="0" bIns="0" anchor="ctr" anchorCtr="0">
            <a:spAutoFit/>
          </a:bodyPr>
          <a:lstStyle/>
          <a:p>
            <a:r>
              <a:rPr lang="en-US" sz="3150" dirty="0">
                <a:solidFill>
                  <a:schemeClr val="bg1"/>
                </a:solidFill>
                <a:latin typeface="Arial"/>
                <a:ea typeface="Arial"/>
                <a:cs typeface="Arial"/>
                <a:sym typeface="Arial"/>
              </a:rPr>
              <a:t>BD Course</a:t>
            </a:r>
            <a:endParaRPr sz="3150" dirty="0">
              <a:solidFill>
                <a:schemeClr val="bg1"/>
              </a:solidFill>
              <a:latin typeface="Arial"/>
              <a:ea typeface="Arial"/>
              <a:cs typeface="Arial"/>
              <a:sym typeface="Arial"/>
            </a:endParaRPr>
          </a:p>
        </p:txBody>
      </p:sp>
      <p:pic>
        <p:nvPicPr>
          <p:cNvPr id="1028" name="Picture 4" descr="Banking system - Free ui icons">
            <a:extLst>
              <a:ext uri="{FF2B5EF4-FFF2-40B4-BE49-F238E27FC236}">
                <a16:creationId xmlns:a16="http://schemas.microsoft.com/office/drawing/2014/main" id="{81E829A4-DC4C-4D4A-DF54-1D742A7A92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621000" y="8039100"/>
            <a:ext cx="1958610" cy="19586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2CB41C1-D861-EA8C-0E36-5056D161EBC3}"/>
              </a:ext>
            </a:extLst>
          </p:cNvPr>
          <p:cNvSpPr txBox="1"/>
          <p:nvPr/>
        </p:nvSpPr>
        <p:spPr>
          <a:xfrm>
            <a:off x="2898164" y="7674725"/>
            <a:ext cx="4798035" cy="461665"/>
          </a:xfrm>
          <a:prstGeom prst="rect">
            <a:avLst/>
          </a:prstGeom>
          <a:noFill/>
        </p:spPr>
        <p:txBody>
          <a:bodyPr wrap="square" rtlCol="0">
            <a:spAutoFit/>
          </a:bodyPr>
          <a:lstStyle/>
          <a:p>
            <a:r>
              <a:rPr lang="en-US" sz="2400" dirty="0">
                <a:solidFill>
                  <a:schemeClr val="bg1"/>
                </a:solidFill>
              </a:rPr>
              <a:t>Under Supervision :  Eng </a:t>
            </a:r>
            <a:r>
              <a:rPr lang="en-US" sz="2400" dirty="0" err="1">
                <a:solidFill>
                  <a:schemeClr val="bg1"/>
                </a:solidFill>
              </a:rPr>
              <a:t>Bassmala</a:t>
            </a:r>
            <a:endParaRPr lang="en-US" sz="2400" dirty="0">
              <a:solidFill>
                <a:schemeClr val="bg1"/>
              </a:solidFill>
            </a:endParaRPr>
          </a:p>
        </p:txBody>
      </p:sp>
      <p:pic>
        <p:nvPicPr>
          <p:cNvPr id="1030" name="Picture 6" descr="Download Free Bank Icons in PNG &amp; SVG | Magnific (formerly ...">
            <a:extLst>
              <a:ext uri="{FF2B5EF4-FFF2-40B4-BE49-F238E27FC236}">
                <a16:creationId xmlns:a16="http://schemas.microsoft.com/office/drawing/2014/main" id="{BD4C3739-AF7F-B3B4-3DC1-614E26BFEC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82600" y="3162300"/>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rPr>
              <a:t>Agenda</a:t>
            </a:r>
            <a:endParaRPr sz="5000" b="1" dirty="0"/>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cs typeface="Arial" panose="020B0604020202020204" pitchFamily="34" charset="0"/>
                </a:rPr>
                <a:t>Team</a:t>
              </a:r>
              <a:endParaRPr sz="2700" b="1" dirty="0">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rgbClr val="193EB0"/>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19400" y="4838700"/>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Problem Statement</a:t>
              </a:r>
              <a:endParaRPr lang="en-US" sz="3600" dirty="0">
                <a:solidFill>
                  <a:schemeClr val="tx1">
                    <a:lumMod val="50000"/>
                    <a:lumOff val="50000"/>
                  </a:schemeClr>
                </a:solidFill>
              </a:endParaRPr>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3" name="Google Shape;59;p3">
            <a:extLst>
              <a:ext uri="{FF2B5EF4-FFF2-40B4-BE49-F238E27FC236}">
                <a16:creationId xmlns:a16="http://schemas.microsoft.com/office/drawing/2014/main" id="{7F7E447A-C5E1-7420-8FBB-3CF4F1A9AD02}"/>
              </a:ext>
            </a:extLst>
          </p:cNvPr>
          <p:cNvGrpSpPr/>
          <p:nvPr/>
        </p:nvGrpSpPr>
        <p:grpSpPr>
          <a:xfrm>
            <a:off x="2819400" y="5372100"/>
            <a:ext cx="8553420" cy="417167"/>
            <a:chOff x="571500" y="5165783"/>
            <a:chExt cx="5702280" cy="278111"/>
          </a:xfrm>
        </p:grpSpPr>
        <p:sp>
          <p:nvSpPr>
            <p:cNvPr id="24" name="Google Shape;60;p3">
              <a:extLst>
                <a:ext uri="{FF2B5EF4-FFF2-40B4-BE49-F238E27FC236}">
                  <a16:creationId xmlns:a16="http://schemas.microsoft.com/office/drawing/2014/main" id="{C343142B-432C-21AC-C3ED-C746402D1775}"/>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endParaRPr>
            </a:p>
          </p:txBody>
        </p:sp>
        <p:sp>
          <p:nvSpPr>
            <p:cNvPr id="25" name="Google Shape;61;p3">
              <a:extLst>
                <a:ext uri="{FF2B5EF4-FFF2-40B4-BE49-F238E27FC236}">
                  <a16:creationId xmlns:a16="http://schemas.microsoft.com/office/drawing/2014/main" id="{A929D6BB-1C0E-E7E6-0485-DFC4F9631D13}"/>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9" name="Google Shape;59;p3">
            <a:extLst>
              <a:ext uri="{FF2B5EF4-FFF2-40B4-BE49-F238E27FC236}">
                <a16:creationId xmlns:a16="http://schemas.microsoft.com/office/drawing/2014/main" id="{6B0CC098-F2B6-F4AB-ACA1-ADA8CE90848D}"/>
              </a:ext>
            </a:extLst>
          </p:cNvPr>
          <p:cNvGrpSpPr/>
          <p:nvPr/>
        </p:nvGrpSpPr>
        <p:grpSpPr>
          <a:xfrm>
            <a:off x="2838827" y="6691517"/>
            <a:ext cx="8553420" cy="417186"/>
            <a:chOff x="571500" y="5165783"/>
            <a:chExt cx="5702280" cy="278124"/>
          </a:xfrm>
        </p:grpSpPr>
        <p:sp>
          <p:nvSpPr>
            <p:cNvPr id="30" name="Google Shape;60;p3">
              <a:extLst>
                <a:ext uri="{FF2B5EF4-FFF2-40B4-BE49-F238E27FC236}">
                  <a16:creationId xmlns:a16="http://schemas.microsoft.com/office/drawing/2014/main" id="{5827A87A-FDAA-039B-8499-A0134E71CC44}"/>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rPr>
                <a:t>Results and Insights</a:t>
              </a:r>
            </a:p>
          </p:txBody>
        </p:sp>
        <p:sp>
          <p:nvSpPr>
            <p:cNvPr id="31" name="Google Shape;61;p3">
              <a:extLst>
                <a:ext uri="{FF2B5EF4-FFF2-40B4-BE49-F238E27FC236}">
                  <a16:creationId xmlns:a16="http://schemas.microsoft.com/office/drawing/2014/main" id="{8C925EB8-49B2-7445-4CD7-4610E9FC10C2}"/>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chemeClr val="lt1"/>
                </a:solidFill>
                <a:latin typeface="Calibri"/>
                <a:ea typeface="Calibri"/>
                <a:cs typeface="Calibri"/>
                <a:sym typeface="Calibri"/>
              </a:endParaRPr>
            </a:p>
          </p:txBody>
        </p:sp>
      </p:grpSp>
      <p:grpSp>
        <p:nvGrpSpPr>
          <p:cNvPr id="32" name="Google Shape;59;p3">
            <a:extLst>
              <a:ext uri="{FF2B5EF4-FFF2-40B4-BE49-F238E27FC236}">
                <a16:creationId xmlns:a16="http://schemas.microsoft.com/office/drawing/2014/main" id="{D876FA5B-C218-9A6F-8397-0DE31982F5F2}"/>
              </a:ext>
            </a:extLst>
          </p:cNvPr>
          <p:cNvGrpSpPr/>
          <p:nvPr/>
        </p:nvGrpSpPr>
        <p:grpSpPr>
          <a:xfrm>
            <a:off x="2838827" y="7283645"/>
            <a:ext cx="8553420" cy="417183"/>
            <a:chOff x="571500" y="5165783"/>
            <a:chExt cx="5702280" cy="278122"/>
          </a:xfrm>
        </p:grpSpPr>
        <p:sp>
          <p:nvSpPr>
            <p:cNvPr id="33" name="Google Shape;60;p3">
              <a:extLst>
                <a:ext uri="{FF2B5EF4-FFF2-40B4-BE49-F238E27FC236}">
                  <a16:creationId xmlns:a16="http://schemas.microsoft.com/office/drawing/2014/main" id="{5C09F73E-CCE3-EB94-1BF8-3F91767F5498}"/>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endParaRPr>
            </a:p>
          </p:txBody>
        </p:sp>
        <p:sp>
          <p:nvSpPr>
            <p:cNvPr id="34" name="Google Shape;61;p3">
              <a:extLst>
                <a:ext uri="{FF2B5EF4-FFF2-40B4-BE49-F238E27FC236}">
                  <a16:creationId xmlns:a16="http://schemas.microsoft.com/office/drawing/2014/main" id="{62729B27-633B-0381-594B-D268770FDC45}"/>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35" name="Google Shape;59;p3">
            <a:extLst>
              <a:ext uri="{FF2B5EF4-FFF2-40B4-BE49-F238E27FC236}">
                <a16:creationId xmlns:a16="http://schemas.microsoft.com/office/drawing/2014/main" id="{5BA8E6CA-3E50-9C10-4FDF-72B2CFB555C3}"/>
              </a:ext>
            </a:extLst>
          </p:cNvPr>
          <p:cNvGrpSpPr/>
          <p:nvPr/>
        </p:nvGrpSpPr>
        <p:grpSpPr>
          <a:xfrm>
            <a:off x="2838827" y="7879169"/>
            <a:ext cx="8553420" cy="417185"/>
            <a:chOff x="571500" y="5165783"/>
            <a:chExt cx="5702280" cy="278123"/>
          </a:xfrm>
        </p:grpSpPr>
        <p:sp>
          <p:nvSpPr>
            <p:cNvPr id="36" name="Google Shape;60;p3">
              <a:extLst>
                <a:ext uri="{FF2B5EF4-FFF2-40B4-BE49-F238E27FC236}">
                  <a16:creationId xmlns:a16="http://schemas.microsoft.com/office/drawing/2014/main" id="{983DC240-2142-1D58-B1DF-73232CB9745F}"/>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a:solidFill>
                  <a:schemeClr val="tx1">
                    <a:lumMod val="50000"/>
                    <a:lumOff val="50000"/>
                  </a:schemeClr>
                </a:solidFill>
              </a:endParaRPr>
            </a:p>
          </p:txBody>
        </p:sp>
        <p:sp>
          <p:nvSpPr>
            <p:cNvPr id="37" name="Google Shape;61;p3">
              <a:extLst>
                <a:ext uri="{FF2B5EF4-FFF2-40B4-BE49-F238E27FC236}">
                  <a16:creationId xmlns:a16="http://schemas.microsoft.com/office/drawing/2014/main" id="{3A4624BC-583E-7CE8-CECD-D0FFBABAA10C}"/>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38" name="Google Shape;56;p3">
            <a:extLst>
              <a:ext uri="{FF2B5EF4-FFF2-40B4-BE49-F238E27FC236}">
                <a16:creationId xmlns:a16="http://schemas.microsoft.com/office/drawing/2014/main" id="{A7BE938D-83D0-31CC-F469-A384BD411D9E}"/>
              </a:ext>
            </a:extLst>
          </p:cNvPr>
          <p:cNvGrpSpPr/>
          <p:nvPr/>
        </p:nvGrpSpPr>
        <p:grpSpPr>
          <a:xfrm>
            <a:off x="2819400" y="6057900"/>
            <a:ext cx="8553420" cy="417186"/>
            <a:chOff x="571500" y="5165783"/>
            <a:chExt cx="5702280" cy="278124"/>
          </a:xfrm>
        </p:grpSpPr>
        <p:sp>
          <p:nvSpPr>
            <p:cNvPr id="39" name="Google Shape;57;p3">
              <a:extLst>
                <a:ext uri="{FF2B5EF4-FFF2-40B4-BE49-F238E27FC236}">
                  <a16:creationId xmlns:a16="http://schemas.microsoft.com/office/drawing/2014/main" id="{9B7D4C13-7475-82A3-078D-64A6845669B6}"/>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Key Tasks</a:t>
              </a:r>
            </a:p>
          </p:txBody>
        </p:sp>
        <p:sp>
          <p:nvSpPr>
            <p:cNvPr id="40" name="Google Shape;58;p3">
              <a:extLst>
                <a:ext uri="{FF2B5EF4-FFF2-40B4-BE49-F238E27FC236}">
                  <a16:creationId xmlns:a16="http://schemas.microsoft.com/office/drawing/2014/main" id="{5894D6D0-8127-F992-F67B-EE9DD5979182}"/>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pic>
        <p:nvPicPr>
          <p:cNvPr id="2052" name="Picture 4">
            <a:extLst>
              <a:ext uri="{FF2B5EF4-FFF2-40B4-BE49-F238E27FC236}">
                <a16:creationId xmlns:a16="http://schemas.microsoft.com/office/drawing/2014/main" id="{1B926547-74C4-4C96-FE49-4A3CB1AD45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62" y="363449"/>
            <a:ext cx="2736878" cy="27368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p:cTn id="19" dur="500" fill="hold"/>
                                        <p:tgtEl>
                                          <p:spTgt spid="26"/>
                                        </p:tgtEl>
                                        <p:attrNameLst>
                                          <p:attrName>ppt_w</p:attrName>
                                        </p:attrNameLst>
                                      </p:cBhvr>
                                      <p:tavLst>
                                        <p:tav tm="0">
                                          <p:val>
                                            <p:fltVal val="0"/>
                                          </p:val>
                                        </p:tav>
                                        <p:tav tm="100000">
                                          <p:val>
                                            <p:strVal val="#ppt_w"/>
                                          </p:val>
                                        </p:tav>
                                      </p:tavLst>
                                    </p:anim>
                                    <p:anim calcmode="lin" valueType="num">
                                      <p:cBhvr>
                                        <p:cTn id="20" dur="500" fill="hold"/>
                                        <p:tgtEl>
                                          <p:spTgt spid="26"/>
                                        </p:tgtEl>
                                        <p:attrNameLst>
                                          <p:attrName>ppt_h</p:attrName>
                                        </p:attrNameLst>
                                      </p:cBhvr>
                                      <p:tavLst>
                                        <p:tav tm="0">
                                          <p:val>
                                            <p:fltVal val="0"/>
                                          </p:val>
                                        </p:tav>
                                        <p:tav tm="100000">
                                          <p:val>
                                            <p:strVal val="#ppt_h"/>
                                          </p:val>
                                        </p:tav>
                                      </p:tavLst>
                                    </p:anim>
                                    <p:animEffect transition="in" filter="fade">
                                      <p:cBhvr>
                                        <p:cTn id="21" dur="500"/>
                                        <p:tgtEl>
                                          <p:spTgt spid="26"/>
                                        </p:tgtEl>
                                      </p:cBhvr>
                                    </p:animEffect>
                                  </p:childTnLst>
                                </p:cTn>
                              </p:par>
                              <p:par>
                                <p:cTn id="22" presetID="53" presetClass="entr" presetSubtype="16" fill="hold" nodeType="withEffect">
                                  <p:stCondLst>
                                    <p:cond delay="0"/>
                                  </p:stCondLst>
                                  <p:childTnLst>
                                    <p:set>
                                      <p:cBhvr>
                                        <p:cTn id="23" dur="1" fill="hold">
                                          <p:stCondLst>
                                            <p:cond delay="0"/>
                                          </p:stCondLst>
                                        </p:cTn>
                                        <p:tgtEl>
                                          <p:spTgt spid="38"/>
                                        </p:tgtEl>
                                        <p:attrNameLst>
                                          <p:attrName>style.visibility</p:attrName>
                                        </p:attrNameLst>
                                      </p:cBhvr>
                                      <p:to>
                                        <p:strVal val="visible"/>
                                      </p:to>
                                    </p:set>
                                    <p:anim calcmode="lin" valueType="num">
                                      <p:cBhvr>
                                        <p:cTn id="24" dur="500" fill="hold"/>
                                        <p:tgtEl>
                                          <p:spTgt spid="38"/>
                                        </p:tgtEl>
                                        <p:attrNameLst>
                                          <p:attrName>ppt_w</p:attrName>
                                        </p:attrNameLst>
                                      </p:cBhvr>
                                      <p:tavLst>
                                        <p:tav tm="0">
                                          <p:val>
                                            <p:fltVal val="0"/>
                                          </p:val>
                                        </p:tav>
                                        <p:tav tm="100000">
                                          <p:val>
                                            <p:strVal val="#ppt_w"/>
                                          </p:val>
                                        </p:tav>
                                      </p:tavLst>
                                    </p:anim>
                                    <p:anim calcmode="lin" valueType="num">
                                      <p:cBhvr>
                                        <p:cTn id="25" dur="500" fill="hold"/>
                                        <p:tgtEl>
                                          <p:spTgt spid="38"/>
                                        </p:tgtEl>
                                        <p:attrNameLst>
                                          <p:attrName>ppt_h</p:attrName>
                                        </p:attrNameLst>
                                      </p:cBhvr>
                                      <p:tavLst>
                                        <p:tav tm="0">
                                          <p:val>
                                            <p:fltVal val="0"/>
                                          </p:val>
                                        </p:tav>
                                        <p:tav tm="100000">
                                          <p:val>
                                            <p:strVal val="#ppt_h"/>
                                          </p:val>
                                        </p:tav>
                                      </p:tavLst>
                                    </p:anim>
                                    <p:animEffect transition="in" filter="fade">
                                      <p:cBhvr>
                                        <p:cTn id="26" dur="500"/>
                                        <p:tgtEl>
                                          <p:spTgt spid="38"/>
                                        </p:tgtEl>
                                      </p:cBhvr>
                                    </p:animEffect>
                                  </p:childTnLst>
                                </p:cTn>
                              </p:par>
                              <p:par>
                                <p:cTn id="27" presetID="53" presetClass="entr" presetSubtype="16"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500" fill="hold"/>
                                        <p:tgtEl>
                                          <p:spTgt spid="23"/>
                                        </p:tgtEl>
                                        <p:attrNameLst>
                                          <p:attrName>ppt_w</p:attrName>
                                        </p:attrNameLst>
                                      </p:cBhvr>
                                      <p:tavLst>
                                        <p:tav tm="0">
                                          <p:val>
                                            <p:fltVal val="0"/>
                                          </p:val>
                                        </p:tav>
                                        <p:tav tm="100000">
                                          <p:val>
                                            <p:strVal val="#ppt_w"/>
                                          </p:val>
                                        </p:tav>
                                      </p:tavLst>
                                    </p:anim>
                                    <p:anim calcmode="lin" valueType="num">
                                      <p:cBhvr>
                                        <p:cTn id="30" dur="500" fill="hold"/>
                                        <p:tgtEl>
                                          <p:spTgt spid="23"/>
                                        </p:tgtEl>
                                        <p:attrNameLst>
                                          <p:attrName>ppt_h</p:attrName>
                                        </p:attrNameLst>
                                      </p:cBhvr>
                                      <p:tavLst>
                                        <p:tav tm="0">
                                          <p:val>
                                            <p:fltVal val="0"/>
                                          </p:val>
                                        </p:tav>
                                        <p:tav tm="100000">
                                          <p:val>
                                            <p:strVal val="#ppt_h"/>
                                          </p:val>
                                        </p:tav>
                                      </p:tavLst>
                                    </p:anim>
                                    <p:animEffect transition="in" filter="fade">
                                      <p:cBhvr>
                                        <p:cTn id="31" dur="500"/>
                                        <p:tgtEl>
                                          <p:spTgt spid="23"/>
                                        </p:tgtEl>
                                      </p:cBhvr>
                                    </p:animEffect>
                                  </p:childTnLst>
                                </p:cTn>
                              </p:par>
                              <p:par>
                                <p:cTn id="32" presetID="53" presetClass="entr" presetSubtype="16"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 calcmode="lin" valueType="num">
                                      <p:cBhvr>
                                        <p:cTn id="34" dur="500" fill="hold"/>
                                        <p:tgtEl>
                                          <p:spTgt spid="29"/>
                                        </p:tgtEl>
                                        <p:attrNameLst>
                                          <p:attrName>ppt_w</p:attrName>
                                        </p:attrNameLst>
                                      </p:cBhvr>
                                      <p:tavLst>
                                        <p:tav tm="0">
                                          <p:val>
                                            <p:fltVal val="0"/>
                                          </p:val>
                                        </p:tav>
                                        <p:tav tm="100000">
                                          <p:val>
                                            <p:strVal val="#ppt_w"/>
                                          </p:val>
                                        </p:tav>
                                      </p:tavLst>
                                    </p:anim>
                                    <p:anim calcmode="lin" valueType="num">
                                      <p:cBhvr>
                                        <p:cTn id="35" dur="500" fill="hold"/>
                                        <p:tgtEl>
                                          <p:spTgt spid="29"/>
                                        </p:tgtEl>
                                        <p:attrNameLst>
                                          <p:attrName>ppt_h</p:attrName>
                                        </p:attrNameLst>
                                      </p:cBhvr>
                                      <p:tavLst>
                                        <p:tav tm="0">
                                          <p:val>
                                            <p:fltVal val="0"/>
                                          </p:val>
                                        </p:tav>
                                        <p:tav tm="100000">
                                          <p:val>
                                            <p:strVal val="#ppt_h"/>
                                          </p:val>
                                        </p:tav>
                                      </p:tavLst>
                                    </p:anim>
                                    <p:animEffect transition="in" filter="fade">
                                      <p:cBhvr>
                                        <p:cTn id="36" dur="500"/>
                                        <p:tgtEl>
                                          <p:spTgt spid="29"/>
                                        </p:tgtEl>
                                      </p:cBhvr>
                                    </p:animEffect>
                                  </p:childTnLst>
                                </p:cTn>
                              </p:par>
                              <p:par>
                                <p:cTn id="37" presetID="53" presetClass="entr" presetSubtype="16"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cBhvr>
                                        <p:cTn id="39" dur="500" fill="hold"/>
                                        <p:tgtEl>
                                          <p:spTgt spid="32"/>
                                        </p:tgtEl>
                                        <p:attrNameLst>
                                          <p:attrName>ppt_w</p:attrName>
                                        </p:attrNameLst>
                                      </p:cBhvr>
                                      <p:tavLst>
                                        <p:tav tm="0">
                                          <p:val>
                                            <p:fltVal val="0"/>
                                          </p:val>
                                        </p:tav>
                                        <p:tav tm="100000">
                                          <p:val>
                                            <p:strVal val="#ppt_w"/>
                                          </p:val>
                                        </p:tav>
                                      </p:tavLst>
                                    </p:anim>
                                    <p:anim calcmode="lin" valueType="num">
                                      <p:cBhvr>
                                        <p:cTn id="40" dur="500" fill="hold"/>
                                        <p:tgtEl>
                                          <p:spTgt spid="32"/>
                                        </p:tgtEl>
                                        <p:attrNameLst>
                                          <p:attrName>ppt_h</p:attrName>
                                        </p:attrNameLst>
                                      </p:cBhvr>
                                      <p:tavLst>
                                        <p:tav tm="0">
                                          <p:val>
                                            <p:fltVal val="0"/>
                                          </p:val>
                                        </p:tav>
                                        <p:tav tm="100000">
                                          <p:val>
                                            <p:strVal val="#ppt_h"/>
                                          </p:val>
                                        </p:tav>
                                      </p:tavLst>
                                    </p:anim>
                                    <p:animEffect transition="in" filter="fade">
                                      <p:cBhvr>
                                        <p:cTn id="41" dur="500"/>
                                        <p:tgtEl>
                                          <p:spTgt spid="32"/>
                                        </p:tgtEl>
                                      </p:cBhvr>
                                    </p:animEffect>
                                  </p:childTnLst>
                                </p:cTn>
                              </p:par>
                              <p:par>
                                <p:cTn id="42" presetID="53" presetClass="entr" presetSubtype="16" fill="hold" nodeType="withEffect">
                                  <p:stCondLst>
                                    <p:cond delay="0"/>
                                  </p:stCondLst>
                                  <p:childTnLst>
                                    <p:set>
                                      <p:cBhvr>
                                        <p:cTn id="43" dur="1" fill="hold">
                                          <p:stCondLst>
                                            <p:cond delay="0"/>
                                          </p:stCondLst>
                                        </p:cTn>
                                        <p:tgtEl>
                                          <p:spTgt spid="35"/>
                                        </p:tgtEl>
                                        <p:attrNameLst>
                                          <p:attrName>style.visibility</p:attrName>
                                        </p:attrNameLst>
                                      </p:cBhvr>
                                      <p:to>
                                        <p:strVal val="visible"/>
                                      </p:to>
                                    </p:set>
                                    <p:anim calcmode="lin" valueType="num">
                                      <p:cBhvr>
                                        <p:cTn id="44" dur="500" fill="hold"/>
                                        <p:tgtEl>
                                          <p:spTgt spid="35"/>
                                        </p:tgtEl>
                                        <p:attrNameLst>
                                          <p:attrName>ppt_w</p:attrName>
                                        </p:attrNameLst>
                                      </p:cBhvr>
                                      <p:tavLst>
                                        <p:tav tm="0">
                                          <p:val>
                                            <p:fltVal val="0"/>
                                          </p:val>
                                        </p:tav>
                                        <p:tav tm="100000">
                                          <p:val>
                                            <p:strVal val="#ppt_w"/>
                                          </p:val>
                                        </p:tav>
                                      </p:tavLst>
                                    </p:anim>
                                    <p:anim calcmode="lin" valueType="num">
                                      <p:cBhvr>
                                        <p:cTn id="45" dur="500" fill="hold"/>
                                        <p:tgtEl>
                                          <p:spTgt spid="35"/>
                                        </p:tgtEl>
                                        <p:attrNameLst>
                                          <p:attrName>ppt_h</p:attrName>
                                        </p:attrNameLst>
                                      </p:cBhvr>
                                      <p:tavLst>
                                        <p:tav tm="0">
                                          <p:val>
                                            <p:fltVal val="0"/>
                                          </p:val>
                                        </p:tav>
                                        <p:tav tm="100000">
                                          <p:val>
                                            <p:strVal val="#ppt_h"/>
                                          </p:val>
                                        </p:tav>
                                      </p:tavLst>
                                    </p:anim>
                                    <p:animEffect transition="in" filter="fade">
                                      <p:cBhvr>
                                        <p:cTn id="4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2"/>
          <p:cNvSpPr/>
          <p:nvPr/>
        </p:nvSpPr>
        <p:spPr>
          <a:xfrm>
            <a:off x="3082252" y="1875338"/>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rPr>
              <a:t>Team Members</a:t>
            </a:r>
            <a:endParaRPr lang="en-US" sz="2700" dirty="0"/>
          </a:p>
        </p:txBody>
      </p:sp>
      <p:cxnSp>
        <p:nvCxnSpPr>
          <p:cNvPr id="41" name="Google Shape;41;p2"/>
          <p:cNvCxnSpPr/>
          <p:nvPr/>
        </p:nvCxnSpPr>
        <p:spPr>
          <a:xfrm flipH="1">
            <a:off x="2685719" y="2806617"/>
            <a:ext cx="15750" cy="4316850"/>
          </a:xfrm>
          <a:prstGeom prst="straightConnector1">
            <a:avLst/>
          </a:prstGeom>
          <a:noFill/>
          <a:ln w="38100" cap="flat" cmpd="sng">
            <a:solidFill>
              <a:schemeClr val="lt1"/>
            </a:solidFill>
            <a:prstDash val="solid"/>
            <a:miter lim="800000"/>
            <a:headEnd type="none" w="sm" len="sm"/>
            <a:tailEnd type="none" w="sm" len="sm"/>
          </a:ln>
        </p:spPr>
      </p:cxnSp>
      <p:sp>
        <p:nvSpPr>
          <p:cNvPr id="2" name="TextBox 1">
            <a:extLst>
              <a:ext uri="{FF2B5EF4-FFF2-40B4-BE49-F238E27FC236}">
                <a16:creationId xmlns:a16="http://schemas.microsoft.com/office/drawing/2014/main" id="{4E159DC3-3BD1-69DF-1D70-46E425C90EB9}"/>
              </a:ext>
            </a:extLst>
          </p:cNvPr>
          <p:cNvSpPr txBox="1"/>
          <p:nvPr/>
        </p:nvSpPr>
        <p:spPr>
          <a:xfrm>
            <a:off x="3026918" y="6134707"/>
            <a:ext cx="6629400" cy="584775"/>
          </a:xfrm>
          <a:prstGeom prst="rect">
            <a:avLst/>
          </a:prstGeom>
          <a:noFill/>
        </p:spPr>
        <p:txBody>
          <a:bodyPr wrap="square" rtlCol="0" anchor="ctr">
            <a:spAutoFit/>
          </a:bodyPr>
          <a:lstStyle/>
          <a:p>
            <a:r>
              <a:rPr lang="en-US" sz="3200" dirty="0">
                <a:solidFill>
                  <a:schemeClr val="bg1"/>
                </a:solidFill>
              </a:rPr>
              <a:t>Ahmed Mohamed</a:t>
            </a:r>
          </a:p>
        </p:txBody>
      </p:sp>
      <p:sp>
        <p:nvSpPr>
          <p:cNvPr id="3" name="TextBox 2">
            <a:extLst>
              <a:ext uri="{FF2B5EF4-FFF2-40B4-BE49-F238E27FC236}">
                <a16:creationId xmlns:a16="http://schemas.microsoft.com/office/drawing/2014/main" id="{028106B1-3FC4-7CDB-3CC4-529A2E5FB722}"/>
              </a:ext>
            </a:extLst>
          </p:cNvPr>
          <p:cNvSpPr txBox="1"/>
          <p:nvPr/>
        </p:nvSpPr>
        <p:spPr>
          <a:xfrm>
            <a:off x="10382253" y="6165370"/>
            <a:ext cx="3657600" cy="584775"/>
          </a:xfrm>
          <a:prstGeom prst="rect">
            <a:avLst/>
          </a:prstGeom>
          <a:noFill/>
        </p:spPr>
        <p:txBody>
          <a:bodyPr wrap="square" rtlCol="0" anchor="ctr">
            <a:spAutoFit/>
          </a:bodyPr>
          <a:lstStyle/>
          <a:p>
            <a:r>
              <a:rPr lang="en-US" sz="3200" dirty="0" err="1">
                <a:solidFill>
                  <a:schemeClr val="bg1"/>
                </a:solidFill>
              </a:rPr>
              <a:t>Adham</a:t>
            </a:r>
            <a:r>
              <a:rPr lang="en-US" sz="3200" dirty="0">
                <a:solidFill>
                  <a:schemeClr val="bg1"/>
                </a:solidFill>
              </a:rPr>
              <a:t> Mohamed</a:t>
            </a:r>
          </a:p>
        </p:txBody>
      </p:sp>
      <p:sp>
        <p:nvSpPr>
          <p:cNvPr id="4" name="TextBox 3">
            <a:extLst>
              <a:ext uri="{FF2B5EF4-FFF2-40B4-BE49-F238E27FC236}">
                <a16:creationId xmlns:a16="http://schemas.microsoft.com/office/drawing/2014/main" id="{A45C62F9-7338-C984-38D9-4B3D69B60922}"/>
              </a:ext>
            </a:extLst>
          </p:cNvPr>
          <p:cNvSpPr txBox="1"/>
          <p:nvPr/>
        </p:nvSpPr>
        <p:spPr>
          <a:xfrm>
            <a:off x="14533717" y="6103814"/>
            <a:ext cx="3489450" cy="646331"/>
          </a:xfrm>
          <a:prstGeom prst="rect">
            <a:avLst/>
          </a:prstGeom>
          <a:noFill/>
        </p:spPr>
        <p:txBody>
          <a:bodyPr wrap="square" rtlCol="0" anchor="ctr">
            <a:spAutoFit/>
          </a:bodyPr>
          <a:lstStyle/>
          <a:p>
            <a:r>
              <a:rPr lang="en-US" sz="3600" dirty="0">
                <a:solidFill>
                  <a:schemeClr val="bg1"/>
                </a:solidFill>
              </a:rPr>
              <a:t>Sara </a:t>
            </a:r>
            <a:r>
              <a:rPr lang="en-US" sz="3200" dirty="0">
                <a:solidFill>
                  <a:schemeClr val="bg1"/>
                </a:solidFill>
              </a:rPr>
              <a:t>Mohamed</a:t>
            </a:r>
            <a:endParaRPr lang="en-US" sz="3600" dirty="0">
              <a:solidFill>
                <a:schemeClr val="bg1"/>
              </a:solidFill>
            </a:endParaRPr>
          </a:p>
        </p:txBody>
      </p:sp>
      <p:sp>
        <p:nvSpPr>
          <p:cNvPr id="5" name="TextBox 4">
            <a:extLst>
              <a:ext uri="{FF2B5EF4-FFF2-40B4-BE49-F238E27FC236}">
                <a16:creationId xmlns:a16="http://schemas.microsoft.com/office/drawing/2014/main" id="{E7741369-89D0-2C87-8011-7BA876BADCCA}"/>
              </a:ext>
            </a:extLst>
          </p:cNvPr>
          <p:cNvSpPr txBox="1"/>
          <p:nvPr/>
        </p:nvSpPr>
        <p:spPr>
          <a:xfrm>
            <a:off x="6858000" y="6134706"/>
            <a:ext cx="2813558" cy="584775"/>
          </a:xfrm>
          <a:prstGeom prst="rect">
            <a:avLst/>
          </a:prstGeom>
          <a:noFill/>
        </p:spPr>
        <p:txBody>
          <a:bodyPr wrap="square" rtlCol="0" anchor="ctr">
            <a:spAutoFit/>
          </a:bodyPr>
          <a:lstStyle/>
          <a:p>
            <a:r>
              <a:rPr lang="en-US" sz="3200" dirty="0">
                <a:solidFill>
                  <a:schemeClr val="bg1"/>
                </a:solidFill>
              </a:rPr>
              <a:t>Youssef Khaled</a:t>
            </a:r>
          </a:p>
        </p:txBody>
      </p:sp>
      <p:pic>
        <p:nvPicPr>
          <p:cNvPr id="3078" name="Picture 6">
            <a:hlinkClick r:id="rId3"/>
            <a:extLst>
              <a:ext uri="{FF2B5EF4-FFF2-40B4-BE49-F238E27FC236}">
                <a16:creationId xmlns:a16="http://schemas.microsoft.com/office/drawing/2014/main" id="{3CF2D7B6-7655-AFCE-9D66-C4B5CDE1C32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90070" y="6509302"/>
            <a:ext cx="1468459" cy="146845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a:hlinkClick r:id="rId5"/>
            <a:extLst>
              <a:ext uri="{FF2B5EF4-FFF2-40B4-BE49-F238E27FC236}">
                <a16:creationId xmlns:a16="http://schemas.microsoft.com/office/drawing/2014/main" id="{F381BF89-50B4-772C-7D5F-FFD8015CAE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76490" y="6509302"/>
            <a:ext cx="1468459" cy="146845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a:hlinkClick r:id="rId6"/>
            <a:extLst>
              <a:ext uri="{FF2B5EF4-FFF2-40B4-BE49-F238E27FC236}">
                <a16:creationId xmlns:a16="http://schemas.microsoft.com/office/drawing/2014/main" id="{B896875F-8CDE-EBA6-2F84-B3F62769CF3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43713" y="6516922"/>
            <a:ext cx="1468459" cy="146845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a:hlinkClick r:id="rId7"/>
            <a:extLst>
              <a:ext uri="{FF2B5EF4-FFF2-40B4-BE49-F238E27FC236}">
                <a16:creationId xmlns:a16="http://schemas.microsoft.com/office/drawing/2014/main" id="{D2B1CA60-F825-D3FA-D8E4-2D6F30F103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087600" y="6516922"/>
            <a:ext cx="1468459" cy="146845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6142661F-E2D8-B969-49D8-8A1EFBDD67A1}"/>
              </a:ext>
            </a:extLst>
          </p:cNvPr>
          <p:cNvSpPr txBox="1"/>
          <p:nvPr/>
        </p:nvSpPr>
        <p:spPr>
          <a:xfrm>
            <a:off x="3207876" y="7930672"/>
            <a:ext cx="3242348" cy="523220"/>
          </a:xfrm>
          <a:prstGeom prst="rect">
            <a:avLst/>
          </a:prstGeom>
          <a:noFill/>
        </p:spPr>
        <p:txBody>
          <a:bodyPr wrap="square" rtlCol="0">
            <a:spAutoFit/>
          </a:bodyPr>
          <a:lstStyle/>
          <a:p>
            <a:r>
              <a:rPr lang="en-US" sz="2800" dirty="0">
                <a:solidFill>
                  <a:schemeClr val="bg1"/>
                </a:solidFill>
              </a:rPr>
              <a:t>Data ingestion</a:t>
            </a:r>
          </a:p>
        </p:txBody>
      </p:sp>
      <p:sp>
        <p:nvSpPr>
          <p:cNvPr id="20" name="TextBox 19">
            <a:extLst>
              <a:ext uri="{FF2B5EF4-FFF2-40B4-BE49-F238E27FC236}">
                <a16:creationId xmlns:a16="http://schemas.microsoft.com/office/drawing/2014/main" id="{E02FAB4C-DBE8-00EA-D6E8-20C5242C3FA0}"/>
              </a:ext>
            </a:extLst>
          </p:cNvPr>
          <p:cNvSpPr txBox="1"/>
          <p:nvPr/>
        </p:nvSpPr>
        <p:spPr>
          <a:xfrm>
            <a:off x="6717528" y="7930671"/>
            <a:ext cx="3242348" cy="1384995"/>
          </a:xfrm>
          <a:prstGeom prst="rect">
            <a:avLst/>
          </a:prstGeom>
          <a:noFill/>
        </p:spPr>
        <p:txBody>
          <a:bodyPr wrap="square" rtlCol="0">
            <a:spAutoFit/>
          </a:bodyPr>
          <a:lstStyle/>
          <a:p>
            <a:r>
              <a:rPr lang="en-US" sz="2800" dirty="0">
                <a:solidFill>
                  <a:schemeClr val="bg1"/>
                </a:solidFill>
              </a:rPr>
              <a:t>Data Sourcing &amp; Data Transformation &amp; ML</a:t>
            </a:r>
          </a:p>
        </p:txBody>
      </p:sp>
      <p:sp>
        <p:nvSpPr>
          <p:cNvPr id="21" name="TextBox 20">
            <a:extLst>
              <a:ext uri="{FF2B5EF4-FFF2-40B4-BE49-F238E27FC236}">
                <a16:creationId xmlns:a16="http://schemas.microsoft.com/office/drawing/2014/main" id="{89E82B32-B3C5-4B79-E459-B3D8BE72E5F2}"/>
              </a:ext>
            </a:extLst>
          </p:cNvPr>
          <p:cNvSpPr txBox="1"/>
          <p:nvPr/>
        </p:nvSpPr>
        <p:spPr>
          <a:xfrm>
            <a:off x="10433831" y="7976838"/>
            <a:ext cx="3242348" cy="954107"/>
          </a:xfrm>
          <a:prstGeom prst="rect">
            <a:avLst/>
          </a:prstGeom>
          <a:noFill/>
        </p:spPr>
        <p:txBody>
          <a:bodyPr wrap="square" rtlCol="0">
            <a:spAutoFit/>
          </a:bodyPr>
          <a:lstStyle/>
          <a:p>
            <a:r>
              <a:rPr lang="en-US" sz="2800" dirty="0">
                <a:solidFill>
                  <a:schemeClr val="bg1"/>
                </a:solidFill>
              </a:rPr>
              <a:t>Data Transformation &amp; ML</a:t>
            </a:r>
          </a:p>
        </p:txBody>
      </p:sp>
      <p:sp>
        <p:nvSpPr>
          <p:cNvPr id="22" name="TextBox 21">
            <a:extLst>
              <a:ext uri="{FF2B5EF4-FFF2-40B4-BE49-F238E27FC236}">
                <a16:creationId xmlns:a16="http://schemas.microsoft.com/office/drawing/2014/main" id="{C2F2030D-771C-8DFF-A7E7-9DF9D823275A}"/>
              </a:ext>
            </a:extLst>
          </p:cNvPr>
          <p:cNvSpPr txBox="1"/>
          <p:nvPr/>
        </p:nvSpPr>
        <p:spPr>
          <a:xfrm>
            <a:off x="14444428" y="7985381"/>
            <a:ext cx="3242348" cy="954107"/>
          </a:xfrm>
          <a:prstGeom prst="rect">
            <a:avLst/>
          </a:prstGeom>
          <a:noFill/>
        </p:spPr>
        <p:txBody>
          <a:bodyPr wrap="square" rtlCol="0">
            <a:spAutoFit/>
          </a:bodyPr>
          <a:lstStyle/>
          <a:p>
            <a:r>
              <a:rPr lang="en-US" sz="2800" dirty="0">
                <a:solidFill>
                  <a:schemeClr val="bg1"/>
                </a:solidFill>
              </a:rPr>
              <a:t>Data Warehouse Modeling</a:t>
            </a:r>
          </a:p>
        </p:txBody>
      </p:sp>
      <p:pic>
        <p:nvPicPr>
          <p:cNvPr id="7" name="Picture 6">
            <a:extLst>
              <a:ext uri="{FF2B5EF4-FFF2-40B4-BE49-F238E27FC236}">
                <a16:creationId xmlns:a16="http://schemas.microsoft.com/office/drawing/2014/main" id="{B356F0A3-8979-904A-731A-5E76F31055B3}"/>
              </a:ext>
            </a:extLst>
          </p:cNvPr>
          <p:cNvPicPr>
            <a:picLocks noChangeAspect="1"/>
          </p:cNvPicPr>
          <p:nvPr/>
        </p:nvPicPr>
        <p:blipFill>
          <a:blip r:embed="rId8"/>
          <a:stretch>
            <a:fillRect/>
          </a:stretch>
        </p:blipFill>
        <p:spPr>
          <a:xfrm>
            <a:off x="3082252" y="3061853"/>
            <a:ext cx="2618776" cy="2927454"/>
          </a:xfrm>
          <a:prstGeom prst="rect">
            <a:avLst/>
          </a:prstGeom>
        </p:spPr>
      </p:pic>
      <p:pic>
        <p:nvPicPr>
          <p:cNvPr id="9" name="Picture 8">
            <a:extLst>
              <a:ext uri="{FF2B5EF4-FFF2-40B4-BE49-F238E27FC236}">
                <a16:creationId xmlns:a16="http://schemas.microsoft.com/office/drawing/2014/main" id="{E68B3938-BD59-C816-800D-789DC4BE05ED}"/>
              </a:ext>
            </a:extLst>
          </p:cNvPr>
          <p:cNvPicPr>
            <a:picLocks noChangeAspect="1"/>
          </p:cNvPicPr>
          <p:nvPr/>
        </p:nvPicPr>
        <p:blipFill>
          <a:blip r:embed="rId9"/>
          <a:stretch>
            <a:fillRect/>
          </a:stretch>
        </p:blipFill>
        <p:spPr>
          <a:xfrm>
            <a:off x="6875017" y="3066465"/>
            <a:ext cx="2634526" cy="2931677"/>
          </a:xfrm>
          <a:prstGeom prst="rect">
            <a:avLst/>
          </a:prstGeom>
        </p:spPr>
      </p:pic>
      <p:pic>
        <p:nvPicPr>
          <p:cNvPr id="11" name="Picture 10">
            <a:extLst>
              <a:ext uri="{FF2B5EF4-FFF2-40B4-BE49-F238E27FC236}">
                <a16:creationId xmlns:a16="http://schemas.microsoft.com/office/drawing/2014/main" id="{BD6D18BD-5981-D26A-E0A0-9B18D1D2BA6D}"/>
              </a:ext>
            </a:extLst>
          </p:cNvPr>
          <p:cNvPicPr>
            <a:picLocks noChangeAspect="1"/>
          </p:cNvPicPr>
          <p:nvPr/>
        </p:nvPicPr>
        <p:blipFill>
          <a:blip r:embed="rId10"/>
          <a:srcRect l="23230" t="5068" r="22738" b="32048"/>
          <a:stretch/>
        </p:blipFill>
        <p:spPr>
          <a:xfrm>
            <a:off x="14564135" y="3083785"/>
            <a:ext cx="2515387" cy="2927454"/>
          </a:xfrm>
          <a:prstGeom prst="rect">
            <a:avLst/>
          </a:prstGeom>
        </p:spPr>
      </p:pic>
      <p:pic>
        <p:nvPicPr>
          <p:cNvPr id="8" name="Picture 7">
            <a:extLst>
              <a:ext uri="{FF2B5EF4-FFF2-40B4-BE49-F238E27FC236}">
                <a16:creationId xmlns:a16="http://schemas.microsoft.com/office/drawing/2014/main" id="{5EC5A7F5-76AD-999B-9B42-9A1160A1A979}"/>
              </a:ext>
            </a:extLst>
          </p:cNvPr>
          <p:cNvPicPr>
            <a:picLocks noChangeAspect="1"/>
          </p:cNvPicPr>
          <p:nvPr/>
        </p:nvPicPr>
        <p:blipFill>
          <a:blip r:embed="rId11"/>
          <a:stretch>
            <a:fillRect/>
          </a:stretch>
        </p:blipFill>
        <p:spPr>
          <a:xfrm>
            <a:off x="10683532" y="3127649"/>
            <a:ext cx="2634526" cy="2883590"/>
          </a:xfrm>
          <a:prstGeom prst="rect">
            <a:avLst/>
          </a:prstGeom>
        </p:spPr>
      </p:pic>
    </p:spTree>
    <p:extLst>
      <p:ext uri="{BB962C8B-B14F-4D97-AF65-F5344CB8AC3E}">
        <p14:creationId xmlns:p14="http://schemas.microsoft.com/office/powerpoint/2010/main" val="2772866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rPr>
              <a:t>Agenda</a:t>
            </a:r>
            <a:endParaRPr sz="5000" b="1" dirty="0">
              <a:solidFill>
                <a:schemeClr val="lt1"/>
              </a:solidFill>
            </a:endParaRPr>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rPr>
                <a:t>Team</a:t>
              </a:r>
              <a:endParaRPr sz="2700" dirty="0">
                <a:solidFill>
                  <a:schemeClr val="tx1">
                    <a:lumMod val="50000"/>
                    <a:lumOff val="50000"/>
                  </a:schemeClr>
                </a:solidFill>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chemeClr val="tx2"/>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Problem Statement</a:t>
              </a:r>
              <a:endParaRPr lang="en-US" sz="3600" dirty="0">
                <a:solidFill>
                  <a:schemeClr val="tx1">
                    <a:lumMod val="50000"/>
                    <a:lumOff val="50000"/>
                  </a:schemeClr>
                </a:solidFill>
              </a:endParaRPr>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3" name="Google Shape;59;p3">
            <a:extLst>
              <a:ext uri="{FF2B5EF4-FFF2-40B4-BE49-F238E27FC236}">
                <a16:creationId xmlns:a16="http://schemas.microsoft.com/office/drawing/2014/main" id="{54018E2D-36AB-1EDF-D600-D15897955066}"/>
              </a:ext>
            </a:extLst>
          </p:cNvPr>
          <p:cNvGrpSpPr/>
          <p:nvPr/>
        </p:nvGrpSpPr>
        <p:grpSpPr>
          <a:xfrm>
            <a:off x="2819400" y="5448300"/>
            <a:ext cx="8553420" cy="417167"/>
            <a:chOff x="571500" y="5165783"/>
            <a:chExt cx="5702280" cy="278111"/>
          </a:xfrm>
        </p:grpSpPr>
        <p:sp>
          <p:nvSpPr>
            <p:cNvPr id="24" name="Google Shape;60;p3">
              <a:extLst>
                <a:ext uri="{FF2B5EF4-FFF2-40B4-BE49-F238E27FC236}">
                  <a16:creationId xmlns:a16="http://schemas.microsoft.com/office/drawing/2014/main" id="{C284BEBB-714C-92CC-389B-E04930B213DE}"/>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endParaRPr>
            </a:p>
          </p:txBody>
        </p:sp>
        <p:sp>
          <p:nvSpPr>
            <p:cNvPr id="25" name="Google Shape;61;p3">
              <a:extLst>
                <a:ext uri="{FF2B5EF4-FFF2-40B4-BE49-F238E27FC236}">
                  <a16:creationId xmlns:a16="http://schemas.microsoft.com/office/drawing/2014/main" id="{394F93CE-FA03-9F84-6741-14F9A46C6D20}"/>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9" name="Google Shape;59;p3">
            <a:extLst>
              <a:ext uri="{FF2B5EF4-FFF2-40B4-BE49-F238E27FC236}">
                <a16:creationId xmlns:a16="http://schemas.microsoft.com/office/drawing/2014/main" id="{1BA0F404-A618-BA1C-0C1D-8354EB22E6B7}"/>
              </a:ext>
            </a:extLst>
          </p:cNvPr>
          <p:cNvGrpSpPr/>
          <p:nvPr/>
        </p:nvGrpSpPr>
        <p:grpSpPr>
          <a:xfrm>
            <a:off x="2838827" y="6691517"/>
            <a:ext cx="8553420" cy="417186"/>
            <a:chOff x="571500" y="5165783"/>
            <a:chExt cx="5702280" cy="278124"/>
          </a:xfrm>
        </p:grpSpPr>
        <p:sp>
          <p:nvSpPr>
            <p:cNvPr id="30" name="Google Shape;60;p3">
              <a:extLst>
                <a:ext uri="{FF2B5EF4-FFF2-40B4-BE49-F238E27FC236}">
                  <a16:creationId xmlns:a16="http://schemas.microsoft.com/office/drawing/2014/main" id="{1FA5297E-EA5D-D0DB-126D-6DF8EC831E4D}"/>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rPr>
                <a:t>Results and Insights</a:t>
              </a:r>
            </a:p>
          </p:txBody>
        </p:sp>
        <p:sp>
          <p:nvSpPr>
            <p:cNvPr id="31" name="Google Shape;61;p3">
              <a:extLst>
                <a:ext uri="{FF2B5EF4-FFF2-40B4-BE49-F238E27FC236}">
                  <a16:creationId xmlns:a16="http://schemas.microsoft.com/office/drawing/2014/main" id="{4A19E93E-6108-ED16-243D-B4A0E6FBA9EE}"/>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chemeClr val="lt1"/>
                </a:solidFill>
                <a:latin typeface="Calibri"/>
                <a:ea typeface="Calibri"/>
                <a:cs typeface="Calibri"/>
                <a:sym typeface="Calibri"/>
              </a:endParaRPr>
            </a:p>
          </p:txBody>
        </p:sp>
      </p:grpSp>
      <p:grpSp>
        <p:nvGrpSpPr>
          <p:cNvPr id="32" name="Google Shape;59;p3">
            <a:extLst>
              <a:ext uri="{FF2B5EF4-FFF2-40B4-BE49-F238E27FC236}">
                <a16:creationId xmlns:a16="http://schemas.microsoft.com/office/drawing/2014/main" id="{F8F1CAE1-CD2D-79C6-CB36-AD0CD87D5F1D}"/>
              </a:ext>
            </a:extLst>
          </p:cNvPr>
          <p:cNvGrpSpPr/>
          <p:nvPr/>
        </p:nvGrpSpPr>
        <p:grpSpPr>
          <a:xfrm>
            <a:off x="2838827" y="7283645"/>
            <a:ext cx="8553420" cy="417183"/>
            <a:chOff x="571500" y="5165783"/>
            <a:chExt cx="5702280" cy="278122"/>
          </a:xfrm>
        </p:grpSpPr>
        <p:sp>
          <p:nvSpPr>
            <p:cNvPr id="33" name="Google Shape;60;p3">
              <a:extLst>
                <a:ext uri="{FF2B5EF4-FFF2-40B4-BE49-F238E27FC236}">
                  <a16:creationId xmlns:a16="http://schemas.microsoft.com/office/drawing/2014/main" id="{29A19AD9-EBB1-813C-D241-45CED0068827}"/>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endParaRPr>
            </a:p>
          </p:txBody>
        </p:sp>
        <p:sp>
          <p:nvSpPr>
            <p:cNvPr id="34" name="Google Shape;61;p3">
              <a:extLst>
                <a:ext uri="{FF2B5EF4-FFF2-40B4-BE49-F238E27FC236}">
                  <a16:creationId xmlns:a16="http://schemas.microsoft.com/office/drawing/2014/main" id="{857413E5-FA07-4665-D62C-D834A4A0AB29}"/>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35" name="Google Shape;59;p3">
            <a:extLst>
              <a:ext uri="{FF2B5EF4-FFF2-40B4-BE49-F238E27FC236}">
                <a16:creationId xmlns:a16="http://schemas.microsoft.com/office/drawing/2014/main" id="{30107B25-C25E-5ABC-C684-9F31E39AEF21}"/>
              </a:ext>
            </a:extLst>
          </p:cNvPr>
          <p:cNvGrpSpPr/>
          <p:nvPr/>
        </p:nvGrpSpPr>
        <p:grpSpPr>
          <a:xfrm>
            <a:off x="2838827" y="7879169"/>
            <a:ext cx="8553420" cy="417185"/>
            <a:chOff x="571500" y="5165783"/>
            <a:chExt cx="5702280" cy="278123"/>
          </a:xfrm>
        </p:grpSpPr>
        <p:sp>
          <p:nvSpPr>
            <p:cNvPr id="36" name="Google Shape;60;p3">
              <a:extLst>
                <a:ext uri="{FF2B5EF4-FFF2-40B4-BE49-F238E27FC236}">
                  <a16:creationId xmlns:a16="http://schemas.microsoft.com/office/drawing/2014/main" id="{EB90A88A-2C73-1444-72B8-52AE73DCEBA7}"/>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a:solidFill>
                  <a:schemeClr val="tx1">
                    <a:lumMod val="50000"/>
                    <a:lumOff val="50000"/>
                  </a:schemeClr>
                </a:solidFill>
              </a:endParaRPr>
            </a:p>
          </p:txBody>
        </p:sp>
        <p:sp>
          <p:nvSpPr>
            <p:cNvPr id="37" name="Google Shape;61;p3">
              <a:extLst>
                <a:ext uri="{FF2B5EF4-FFF2-40B4-BE49-F238E27FC236}">
                  <a16:creationId xmlns:a16="http://schemas.microsoft.com/office/drawing/2014/main" id="{9760B485-182A-D2A8-45B2-9C1A827E5D71}"/>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38" name="Google Shape;56;p3">
            <a:extLst>
              <a:ext uri="{FF2B5EF4-FFF2-40B4-BE49-F238E27FC236}">
                <a16:creationId xmlns:a16="http://schemas.microsoft.com/office/drawing/2014/main" id="{AEF15EDE-AECC-181D-01BA-8D9340B862DA}"/>
              </a:ext>
            </a:extLst>
          </p:cNvPr>
          <p:cNvGrpSpPr/>
          <p:nvPr/>
        </p:nvGrpSpPr>
        <p:grpSpPr>
          <a:xfrm>
            <a:off x="2819400" y="6134100"/>
            <a:ext cx="8553420" cy="417186"/>
            <a:chOff x="571500" y="5165783"/>
            <a:chExt cx="5702280" cy="278124"/>
          </a:xfrm>
        </p:grpSpPr>
        <p:sp>
          <p:nvSpPr>
            <p:cNvPr id="39" name="Google Shape;57;p3">
              <a:extLst>
                <a:ext uri="{FF2B5EF4-FFF2-40B4-BE49-F238E27FC236}">
                  <a16:creationId xmlns:a16="http://schemas.microsoft.com/office/drawing/2014/main" id="{5576E15D-48D3-A62E-5283-2B52E5068A79}"/>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Key Tasks</a:t>
              </a:r>
            </a:p>
          </p:txBody>
        </p:sp>
        <p:sp>
          <p:nvSpPr>
            <p:cNvPr id="40" name="Google Shape;58;p3">
              <a:extLst>
                <a:ext uri="{FF2B5EF4-FFF2-40B4-BE49-F238E27FC236}">
                  <a16:creationId xmlns:a16="http://schemas.microsoft.com/office/drawing/2014/main" id="{4689994B-7F51-9019-DF8D-4081452D209A}"/>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pic>
        <p:nvPicPr>
          <p:cNvPr id="5" name="Picture 4">
            <a:extLst>
              <a:ext uri="{FF2B5EF4-FFF2-40B4-BE49-F238E27FC236}">
                <a16:creationId xmlns:a16="http://schemas.microsoft.com/office/drawing/2014/main" id="{DFF19690-4850-1C4D-ADEE-9B1A7747DF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62" y="363449"/>
            <a:ext cx="2736878" cy="2736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908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p:cTn id="19" dur="500" fill="hold"/>
                                        <p:tgtEl>
                                          <p:spTgt spid="26"/>
                                        </p:tgtEl>
                                        <p:attrNameLst>
                                          <p:attrName>ppt_w</p:attrName>
                                        </p:attrNameLst>
                                      </p:cBhvr>
                                      <p:tavLst>
                                        <p:tav tm="0">
                                          <p:val>
                                            <p:fltVal val="0"/>
                                          </p:val>
                                        </p:tav>
                                        <p:tav tm="100000">
                                          <p:val>
                                            <p:strVal val="#ppt_w"/>
                                          </p:val>
                                        </p:tav>
                                      </p:tavLst>
                                    </p:anim>
                                    <p:anim calcmode="lin" valueType="num">
                                      <p:cBhvr>
                                        <p:cTn id="20" dur="500" fill="hold"/>
                                        <p:tgtEl>
                                          <p:spTgt spid="26"/>
                                        </p:tgtEl>
                                        <p:attrNameLst>
                                          <p:attrName>ppt_h</p:attrName>
                                        </p:attrNameLst>
                                      </p:cBhvr>
                                      <p:tavLst>
                                        <p:tav tm="0">
                                          <p:val>
                                            <p:fltVal val="0"/>
                                          </p:val>
                                        </p:tav>
                                        <p:tav tm="100000">
                                          <p:val>
                                            <p:strVal val="#ppt_h"/>
                                          </p:val>
                                        </p:tav>
                                      </p:tavLst>
                                    </p:anim>
                                    <p:animEffect transition="in" filter="fade">
                                      <p:cBhvr>
                                        <p:cTn id="21" dur="500"/>
                                        <p:tgtEl>
                                          <p:spTgt spid="26"/>
                                        </p:tgtEl>
                                      </p:cBhvr>
                                    </p:animEffect>
                                  </p:childTnLst>
                                </p:cTn>
                              </p:par>
                              <p:par>
                                <p:cTn id="22" presetID="53" presetClass="entr" presetSubtype="16" fill="hold" nodeType="withEffect">
                                  <p:stCondLst>
                                    <p:cond delay="0"/>
                                  </p:stCondLst>
                                  <p:childTnLst>
                                    <p:set>
                                      <p:cBhvr>
                                        <p:cTn id="23" dur="1" fill="hold">
                                          <p:stCondLst>
                                            <p:cond delay="0"/>
                                          </p:stCondLst>
                                        </p:cTn>
                                        <p:tgtEl>
                                          <p:spTgt spid="38"/>
                                        </p:tgtEl>
                                        <p:attrNameLst>
                                          <p:attrName>style.visibility</p:attrName>
                                        </p:attrNameLst>
                                      </p:cBhvr>
                                      <p:to>
                                        <p:strVal val="visible"/>
                                      </p:to>
                                    </p:set>
                                    <p:anim calcmode="lin" valueType="num">
                                      <p:cBhvr>
                                        <p:cTn id="24" dur="500" fill="hold"/>
                                        <p:tgtEl>
                                          <p:spTgt spid="38"/>
                                        </p:tgtEl>
                                        <p:attrNameLst>
                                          <p:attrName>ppt_w</p:attrName>
                                        </p:attrNameLst>
                                      </p:cBhvr>
                                      <p:tavLst>
                                        <p:tav tm="0">
                                          <p:val>
                                            <p:fltVal val="0"/>
                                          </p:val>
                                        </p:tav>
                                        <p:tav tm="100000">
                                          <p:val>
                                            <p:strVal val="#ppt_w"/>
                                          </p:val>
                                        </p:tav>
                                      </p:tavLst>
                                    </p:anim>
                                    <p:anim calcmode="lin" valueType="num">
                                      <p:cBhvr>
                                        <p:cTn id="25" dur="500" fill="hold"/>
                                        <p:tgtEl>
                                          <p:spTgt spid="38"/>
                                        </p:tgtEl>
                                        <p:attrNameLst>
                                          <p:attrName>ppt_h</p:attrName>
                                        </p:attrNameLst>
                                      </p:cBhvr>
                                      <p:tavLst>
                                        <p:tav tm="0">
                                          <p:val>
                                            <p:fltVal val="0"/>
                                          </p:val>
                                        </p:tav>
                                        <p:tav tm="100000">
                                          <p:val>
                                            <p:strVal val="#ppt_h"/>
                                          </p:val>
                                        </p:tav>
                                      </p:tavLst>
                                    </p:anim>
                                    <p:animEffect transition="in" filter="fade">
                                      <p:cBhvr>
                                        <p:cTn id="26" dur="500"/>
                                        <p:tgtEl>
                                          <p:spTgt spid="38"/>
                                        </p:tgtEl>
                                      </p:cBhvr>
                                    </p:animEffect>
                                  </p:childTnLst>
                                </p:cTn>
                              </p:par>
                              <p:par>
                                <p:cTn id="27" presetID="53" presetClass="entr" presetSubtype="16"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500" fill="hold"/>
                                        <p:tgtEl>
                                          <p:spTgt spid="23"/>
                                        </p:tgtEl>
                                        <p:attrNameLst>
                                          <p:attrName>ppt_w</p:attrName>
                                        </p:attrNameLst>
                                      </p:cBhvr>
                                      <p:tavLst>
                                        <p:tav tm="0">
                                          <p:val>
                                            <p:fltVal val="0"/>
                                          </p:val>
                                        </p:tav>
                                        <p:tav tm="100000">
                                          <p:val>
                                            <p:strVal val="#ppt_w"/>
                                          </p:val>
                                        </p:tav>
                                      </p:tavLst>
                                    </p:anim>
                                    <p:anim calcmode="lin" valueType="num">
                                      <p:cBhvr>
                                        <p:cTn id="30" dur="500" fill="hold"/>
                                        <p:tgtEl>
                                          <p:spTgt spid="23"/>
                                        </p:tgtEl>
                                        <p:attrNameLst>
                                          <p:attrName>ppt_h</p:attrName>
                                        </p:attrNameLst>
                                      </p:cBhvr>
                                      <p:tavLst>
                                        <p:tav tm="0">
                                          <p:val>
                                            <p:fltVal val="0"/>
                                          </p:val>
                                        </p:tav>
                                        <p:tav tm="100000">
                                          <p:val>
                                            <p:strVal val="#ppt_h"/>
                                          </p:val>
                                        </p:tav>
                                      </p:tavLst>
                                    </p:anim>
                                    <p:animEffect transition="in" filter="fade">
                                      <p:cBhvr>
                                        <p:cTn id="31" dur="500"/>
                                        <p:tgtEl>
                                          <p:spTgt spid="23"/>
                                        </p:tgtEl>
                                      </p:cBhvr>
                                    </p:animEffect>
                                  </p:childTnLst>
                                </p:cTn>
                              </p:par>
                              <p:par>
                                <p:cTn id="32" presetID="53" presetClass="entr" presetSubtype="16"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 calcmode="lin" valueType="num">
                                      <p:cBhvr>
                                        <p:cTn id="34" dur="500" fill="hold"/>
                                        <p:tgtEl>
                                          <p:spTgt spid="29"/>
                                        </p:tgtEl>
                                        <p:attrNameLst>
                                          <p:attrName>ppt_w</p:attrName>
                                        </p:attrNameLst>
                                      </p:cBhvr>
                                      <p:tavLst>
                                        <p:tav tm="0">
                                          <p:val>
                                            <p:fltVal val="0"/>
                                          </p:val>
                                        </p:tav>
                                        <p:tav tm="100000">
                                          <p:val>
                                            <p:strVal val="#ppt_w"/>
                                          </p:val>
                                        </p:tav>
                                      </p:tavLst>
                                    </p:anim>
                                    <p:anim calcmode="lin" valueType="num">
                                      <p:cBhvr>
                                        <p:cTn id="35" dur="500" fill="hold"/>
                                        <p:tgtEl>
                                          <p:spTgt spid="29"/>
                                        </p:tgtEl>
                                        <p:attrNameLst>
                                          <p:attrName>ppt_h</p:attrName>
                                        </p:attrNameLst>
                                      </p:cBhvr>
                                      <p:tavLst>
                                        <p:tav tm="0">
                                          <p:val>
                                            <p:fltVal val="0"/>
                                          </p:val>
                                        </p:tav>
                                        <p:tav tm="100000">
                                          <p:val>
                                            <p:strVal val="#ppt_h"/>
                                          </p:val>
                                        </p:tav>
                                      </p:tavLst>
                                    </p:anim>
                                    <p:animEffect transition="in" filter="fade">
                                      <p:cBhvr>
                                        <p:cTn id="36" dur="500"/>
                                        <p:tgtEl>
                                          <p:spTgt spid="29"/>
                                        </p:tgtEl>
                                      </p:cBhvr>
                                    </p:animEffect>
                                  </p:childTnLst>
                                </p:cTn>
                              </p:par>
                              <p:par>
                                <p:cTn id="37" presetID="53" presetClass="entr" presetSubtype="16" fill="hold" nodeType="withEffect">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cBhvr>
                                        <p:cTn id="39" dur="500" fill="hold"/>
                                        <p:tgtEl>
                                          <p:spTgt spid="32"/>
                                        </p:tgtEl>
                                        <p:attrNameLst>
                                          <p:attrName>ppt_w</p:attrName>
                                        </p:attrNameLst>
                                      </p:cBhvr>
                                      <p:tavLst>
                                        <p:tav tm="0">
                                          <p:val>
                                            <p:fltVal val="0"/>
                                          </p:val>
                                        </p:tav>
                                        <p:tav tm="100000">
                                          <p:val>
                                            <p:strVal val="#ppt_w"/>
                                          </p:val>
                                        </p:tav>
                                      </p:tavLst>
                                    </p:anim>
                                    <p:anim calcmode="lin" valueType="num">
                                      <p:cBhvr>
                                        <p:cTn id="40" dur="500" fill="hold"/>
                                        <p:tgtEl>
                                          <p:spTgt spid="32"/>
                                        </p:tgtEl>
                                        <p:attrNameLst>
                                          <p:attrName>ppt_h</p:attrName>
                                        </p:attrNameLst>
                                      </p:cBhvr>
                                      <p:tavLst>
                                        <p:tav tm="0">
                                          <p:val>
                                            <p:fltVal val="0"/>
                                          </p:val>
                                        </p:tav>
                                        <p:tav tm="100000">
                                          <p:val>
                                            <p:strVal val="#ppt_h"/>
                                          </p:val>
                                        </p:tav>
                                      </p:tavLst>
                                    </p:anim>
                                    <p:animEffect transition="in" filter="fade">
                                      <p:cBhvr>
                                        <p:cTn id="41" dur="500"/>
                                        <p:tgtEl>
                                          <p:spTgt spid="32"/>
                                        </p:tgtEl>
                                      </p:cBhvr>
                                    </p:animEffect>
                                  </p:childTnLst>
                                </p:cTn>
                              </p:par>
                              <p:par>
                                <p:cTn id="42" presetID="53" presetClass="entr" presetSubtype="16" fill="hold" nodeType="withEffect">
                                  <p:stCondLst>
                                    <p:cond delay="0"/>
                                  </p:stCondLst>
                                  <p:childTnLst>
                                    <p:set>
                                      <p:cBhvr>
                                        <p:cTn id="43" dur="1" fill="hold">
                                          <p:stCondLst>
                                            <p:cond delay="0"/>
                                          </p:stCondLst>
                                        </p:cTn>
                                        <p:tgtEl>
                                          <p:spTgt spid="35"/>
                                        </p:tgtEl>
                                        <p:attrNameLst>
                                          <p:attrName>style.visibility</p:attrName>
                                        </p:attrNameLst>
                                      </p:cBhvr>
                                      <p:to>
                                        <p:strVal val="visible"/>
                                      </p:to>
                                    </p:set>
                                    <p:anim calcmode="lin" valueType="num">
                                      <p:cBhvr>
                                        <p:cTn id="44" dur="500" fill="hold"/>
                                        <p:tgtEl>
                                          <p:spTgt spid="35"/>
                                        </p:tgtEl>
                                        <p:attrNameLst>
                                          <p:attrName>ppt_w</p:attrName>
                                        </p:attrNameLst>
                                      </p:cBhvr>
                                      <p:tavLst>
                                        <p:tav tm="0">
                                          <p:val>
                                            <p:fltVal val="0"/>
                                          </p:val>
                                        </p:tav>
                                        <p:tav tm="100000">
                                          <p:val>
                                            <p:strVal val="#ppt_w"/>
                                          </p:val>
                                        </p:tav>
                                      </p:tavLst>
                                    </p:anim>
                                    <p:anim calcmode="lin" valueType="num">
                                      <p:cBhvr>
                                        <p:cTn id="45" dur="500" fill="hold"/>
                                        <p:tgtEl>
                                          <p:spTgt spid="35"/>
                                        </p:tgtEl>
                                        <p:attrNameLst>
                                          <p:attrName>ppt_h</p:attrName>
                                        </p:attrNameLst>
                                      </p:cBhvr>
                                      <p:tavLst>
                                        <p:tav tm="0">
                                          <p:val>
                                            <p:fltVal val="0"/>
                                          </p:val>
                                        </p:tav>
                                        <p:tav tm="100000">
                                          <p:val>
                                            <p:strVal val="#ppt_h"/>
                                          </p:val>
                                        </p:tav>
                                      </p:tavLst>
                                    </p:anim>
                                    <p:animEffect transition="in" filter="fade">
                                      <p:cBhvr>
                                        <p:cTn id="4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5C1EEF6F-930A-7678-77F8-FAC97AC99A51}"/>
              </a:ext>
            </a:extLst>
          </p:cNvPr>
          <p:cNvSpPr/>
          <p:nvPr/>
        </p:nvSpPr>
        <p:spPr>
          <a:xfrm>
            <a:off x="1981200" y="1409700"/>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rPr>
              <a:t>Introduction</a:t>
            </a:r>
            <a:endParaRPr lang="en-US" sz="2700" dirty="0"/>
          </a:p>
        </p:txBody>
      </p:sp>
      <p:sp>
        <p:nvSpPr>
          <p:cNvPr id="3" name="TextBox 2">
            <a:extLst>
              <a:ext uri="{FF2B5EF4-FFF2-40B4-BE49-F238E27FC236}">
                <a16:creationId xmlns:a16="http://schemas.microsoft.com/office/drawing/2014/main" id="{D56EADD3-1734-FFD9-DD82-22C9ADBCA244}"/>
              </a:ext>
            </a:extLst>
          </p:cNvPr>
          <p:cNvSpPr txBox="1"/>
          <p:nvPr/>
        </p:nvSpPr>
        <p:spPr>
          <a:xfrm>
            <a:off x="1219200" y="3619500"/>
            <a:ext cx="13639800" cy="3970318"/>
          </a:xfrm>
          <a:prstGeom prst="rect">
            <a:avLst/>
          </a:prstGeom>
          <a:noFill/>
        </p:spPr>
        <p:txBody>
          <a:bodyPr wrap="square" rtlCol="0">
            <a:spAutoFit/>
          </a:bodyPr>
          <a:lstStyle/>
          <a:p>
            <a:pPr marL="571500" indent="-571500">
              <a:buFont typeface="Arial" panose="020B0604020202020204" pitchFamily="34" charset="0"/>
              <a:buChar char="•"/>
            </a:pPr>
            <a:r>
              <a:rPr lang="en-US" sz="3600" b="1" dirty="0"/>
              <a:t>This project focuses on Customer Churn Analysis in the banking sector.</a:t>
            </a:r>
            <a:r>
              <a:rPr lang="en-US" sz="3600" dirty="0"/>
              <a:t> It explores customer data to understand customer behavior, engagement, and interactions with banking products and services. The project brings together different sources of customer information, including customer profiles, product usage, support tickets, and banking offers, to provide a comprehensive view of each customer.</a:t>
            </a:r>
          </a:p>
        </p:txBody>
      </p:sp>
      <p:pic>
        <p:nvPicPr>
          <p:cNvPr id="5124" name="Picture 4">
            <a:extLst>
              <a:ext uri="{FF2B5EF4-FFF2-40B4-BE49-F238E27FC236}">
                <a16:creationId xmlns:a16="http://schemas.microsoft.com/office/drawing/2014/main" id="{5C65B139-BDD5-8206-D792-10276B3803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301159"/>
            <a:ext cx="1206669" cy="12066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5720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rPr>
              <a:t>Agenda</a:t>
            </a:r>
            <a:endParaRPr sz="5000" b="1" dirty="0">
              <a:solidFill>
                <a:schemeClr val="lt1"/>
              </a:solidFill>
            </a:endParaRPr>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Team</a:t>
              </a:r>
              <a:endParaRPr sz="2700" dirty="0">
                <a:solidFill>
                  <a:schemeClr val="bg1">
                    <a:lumMod val="50000"/>
                  </a:schemeClr>
                </a:solidFill>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cs typeface="Arial" panose="020B0604020202020204" pitchFamily="34" charset="0"/>
                </a:rPr>
                <a:t>Problem Statement</a:t>
              </a:r>
              <a:endParaRPr lang="en-US" sz="3600" b="1" dirty="0"/>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rgbClr val="193EB0"/>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41" name="Google Shape;59;p3">
            <a:extLst>
              <a:ext uri="{FF2B5EF4-FFF2-40B4-BE49-F238E27FC236}">
                <a16:creationId xmlns:a16="http://schemas.microsoft.com/office/drawing/2014/main" id="{85E349D9-A193-F0B4-178E-3B608030D164}"/>
              </a:ext>
            </a:extLst>
          </p:cNvPr>
          <p:cNvGrpSpPr/>
          <p:nvPr/>
        </p:nvGrpSpPr>
        <p:grpSpPr>
          <a:xfrm>
            <a:off x="2838827" y="6060863"/>
            <a:ext cx="8553420" cy="417167"/>
            <a:chOff x="571500" y="5165783"/>
            <a:chExt cx="5702280" cy="278111"/>
          </a:xfrm>
        </p:grpSpPr>
        <p:sp>
          <p:nvSpPr>
            <p:cNvPr id="42" name="Google Shape;60;p3">
              <a:extLst>
                <a:ext uri="{FF2B5EF4-FFF2-40B4-BE49-F238E27FC236}">
                  <a16:creationId xmlns:a16="http://schemas.microsoft.com/office/drawing/2014/main" id="{EFFC4856-B028-838B-CC8D-3EF685ED7D61}"/>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endParaRPr>
            </a:p>
          </p:txBody>
        </p:sp>
        <p:sp>
          <p:nvSpPr>
            <p:cNvPr id="43" name="Google Shape;61;p3">
              <a:extLst>
                <a:ext uri="{FF2B5EF4-FFF2-40B4-BE49-F238E27FC236}">
                  <a16:creationId xmlns:a16="http://schemas.microsoft.com/office/drawing/2014/main" id="{89CD6F7D-5AF4-EFA3-BD31-0DD92052428C}"/>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44" name="Google Shape;59;p3">
            <a:extLst>
              <a:ext uri="{FF2B5EF4-FFF2-40B4-BE49-F238E27FC236}">
                <a16:creationId xmlns:a16="http://schemas.microsoft.com/office/drawing/2014/main" id="{EA2AD48F-33F1-D423-8B43-A2B9E6186B50}"/>
              </a:ext>
            </a:extLst>
          </p:cNvPr>
          <p:cNvGrpSpPr/>
          <p:nvPr/>
        </p:nvGrpSpPr>
        <p:grpSpPr>
          <a:xfrm>
            <a:off x="2838827" y="6691517"/>
            <a:ext cx="8553420" cy="417186"/>
            <a:chOff x="571500" y="5165783"/>
            <a:chExt cx="5702280" cy="278124"/>
          </a:xfrm>
        </p:grpSpPr>
        <p:sp>
          <p:nvSpPr>
            <p:cNvPr id="45" name="Google Shape;60;p3">
              <a:extLst>
                <a:ext uri="{FF2B5EF4-FFF2-40B4-BE49-F238E27FC236}">
                  <a16:creationId xmlns:a16="http://schemas.microsoft.com/office/drawing/2014/main" id="{02D5BB92-6829-58A4-14C4-CC2E1C38E7BA}"/>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rPr>
                <a:t>Results and Insights</a:t>
              </a:r>
            </a:p>
          </p:txBody>
        </p:sp>
        <p:sp>
          <p:nvSpPr>
            <p:cNvPr id="46" name="Google Shape;61;p3">
              <a:extLst>
                <a:ext uri="{FF2B5EF4-FFF2-40B4-BE49-F238E27FC236}">
                  <a16:creationId xmlns:a16="http://schemas.microsoft.com/office/drawing/2014/main" id="{4DBAE548-F2FA-0118-D8D8-7A4374A59639}"/>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chemeClr val="lt1"/>
                </a:solidFill>
                <a:latin typeface="Calibri"/>
                <a:ea typeface="Calibri"/>
                <a:cs typeface="Calibri"/>
                <a:sym typeface="Calibri"/>
              </a:endParaRPr>
            </a:p>
          </p:txBody>
        </p:sp>
      </p:grpSp>
      <p:grpSp>
        <p:nvGrpSpPr>
          <p:cNvPr id="47" name="Google Shape;59;p3">
            <a:extLst>
              <a:ext uri="{FF2B5EF4-FFF2-40B4-BE49-F238E27FC236}">
                <a16:creationId xmlns:a16="http://schemas.microsoft.com/office/drawing/2014/main" id="{27BE83FF-282E-B11E-237A-CEC6525324D2}"/>
              </a:ext>
            </a:extLst>
          </p:cNvPr>
          <p:cNvGrpSpPr/>
          <p:nvPr/>
        </p:nvGrpSpPr>
        <p:grpSpPr>
          <a:xfrm>
            <a:off x="2838827" y="7283645"/>
            <a:ext cx="8553420" cy="417183"/>
            <a:chOff x="571500" y="5165783"/>
            <a:chExt cx="5702280" cy="278122"/>
          </a:xfrm>
        </p:grpSpPr>
        <p:sp>
          <p:nvSpPr>
            <p:cNvPr id="49" name="Google Shape;60;p3">
              <a:extLst>
                <a:ext uri="{FF2B5EF4-FFF2-40B4-BE49-F238E27FC236}">
                  <a16:creationId xmlns:a16="http://schemas.microsoft.com/office/drawing/2014/main" id="{9308C891-F45F-3040-CFCF-C3E87DE5FE00}"/>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endParaRPr>
            </a:p>
          </p:txBody>
        </p:sp>
        <p:sp>
          <p:nvSpPr>
            <p:cNvPr id="50" name="Google Shape;61;p3">
              <a:extLst>
                <a:ext uri="{FF2B5EF4-FFF2-40B4-BE49-F238E27FC236}">
                  <a16:creationId xmlns:a16="http://schemas.microsoft.com/office/drawing/2014/main" id="{A41658F1-DA9B-77CA-EFB1-58FA37D2F873}"/>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51" name="Google Shape;59;p3">
            <a:extLst>
              <a:ext uri="{FF2B5EF4-FFF2-40B4-BE49-F238E27FC236}">
                <a16:creationId xmlns:a16="http://schemas.microsoft.com/office/drawing/2014/main" id="{F39646BC-47E1-D10A-F074-2B3D26B42E27}"/>
              </a:ext>
            </a:extLst>
          </p:cNvPr>
          <p:cNvGrpSpPr/>
          <p:nvPr/>
        </p:nvGrpSpPr>
        <p:grpSpPr>
          <a:xfrm>
            <a:off x="2838827" y="7879169"/>
            <a:ext cx="8553420" cy="417185"/>
            <a:chOff x="571500" y="5165783"/>
            <a:chExt cx="5702280" cy="278123"/>
          </a:xfrm>
        </p:grpSpPr>
        <p:sp>
          <p:nvSpPr>
            <p:cNvPr id="52" name="Google Shape;60;p3">
              <a:extLst>
                <a:ext uri="{FF2B5EF4-FFF2-40B4-BE49-F238E27FC236}">
                  <a16:creationId xmlns:a16="http://schemas.microsoft.com/office/drawing/2014/main" id="{1559F5DA-B18D-651C-52F0-64E602F05161}"/>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a:solidFill>
                  <a:schemeClr val="tx1">
                    <a:lumMod val="50000"/>
                    <a:lumOff val="50000"/>
                  </a:schemeClr>
                </a:solidFill>
              </a:endParaRPr>
            </a:p>
          </p:txBody>
        </p:sp>
        <p:sp>
          <p:nvSpPr>
            <p:cNvPr id="53" name="Google Shape;61;p3">
              <a:extLst>
                <a:ext uri="{FF2B5EF4-FFF2-40B4-BE49-F238E27FC236}">
                  <a16:creationId xmlns:a16="http://schemas.microsoft.com/office/drawing/2014/main" id="{3CA93381-05C7-6869-2C6A-D9F9CD9475D2}"/>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54" name="Google Shape;56;p3">
            <a:extLst>
              <a:ext uri="{FF2B5EF4-FFF2-40B4-BE49-F238E27FC236}">
                <a16:creationId xmlns:a16="http://schemas.microsoft.com/office/drawing/2014/main" id="{B16BFB6F-F05C-E902-F780-54F76DE8E1B1}"/>
              </a:ext>
            </a:extLst>
          </p:cNvPr>
          <p:cNvGrpSpPr/>
          <p:nvPr/>
        </p:nvGrpSpPr>
        <p:grpSpPr>
          <a:xfrm>
            <a:off x="2838827" y="5404125"/>
            <a:ext cx="8553420" cy="417186"/>
            <a:chOff x="571500" y="5165783"/>
            <a:chExt cx="5702280" cy="278124"/>
          </a:xfrm>
        </p:grpSpPr>
        <p:sp>
          <p:nvSpPr>
            <p:cNvPr id="55" name="Google Shape;57;p3">
              <a:extLst>
                <a:ext uri="{FF2B5EF4-FFF2-40B4-BE49-F238E27FC236}">
                  <a16:creationId xmlns:a16="http://schemas.microsoft.com/office/drawing/2014/main" id="{19ED329B-680C-2F4B-91C2-22D9456E29D7}"/>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Key Tasks</a:t>
              </a:r>
            </a:p>
          </p:txBody>
        </p:sp>
        <p:sp>
          <p:nvSpPr>
            <p:cNvPr id="56" name="Google Shape;58;p3">
              <a:extLst>
                <a:ext uri="{FF2B5EF4-FFF2-40B4-BE49-F238E27FC236}">
                  <a16:creationId xmlns:a16="http://schemas.microsoft.com/office/drawing/2014/main" id="{ED519012-679F-022C-B285-26D9FB5ED4F1}"/>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pic>
        <p:nvPicPr>
          <p:cNvPr id="5" name="Picture 4">
            <a:extLst>
              <a:ext uri="{FF2B5EF4-FFF2-40B4-BE49-F238E27FC236}">
                <a16:creationId xmlns:a16="http://schemas.microsoft.com/office/drawing/2014/main" id="{2F3AAACE-1FF7-A226-5B00-5014BC4AB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62" y="363449"/>
            <a:ext cx="2736878" cy="2736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738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 calcmode="lin" valueType="num">
                                      <p:cBhvr>
                                        <p:cTn id="19" dur="500" fill="hold"/>
                                        <p:tgtEl>
                                          <p:spTgt spid="26"/>
                                        </p:tgtEl>
                                        <p:attrNameLst>
                                          <p:attrName>ppt_w</p:attrName>
                                        </p:attrNameLst>
                                      </p:cBhvr>
                                      <p:tavLst>
                                        <p:tav tm="0">
                                          <p:val>
                                            <p:fltVal val="0"/>
                                          </p:val>
                                        </p:tav>
                                        <p:tav tm="100000">
                                          <p:val>
                                            <p:strVal val="#ppt_w"/>
                                          </p:val>
                                        </p:tav>
                                      </p:tavLst>
                                    </p:anim>
                                    <p:anim calcmode="lin" valueType="num">
                                      <p:cBhvr>
                                        <p:cTn id="20" dur="500" fill="hold"/>
                                        <p:tgtEl>
                                          <p:spTgt spid="26"/>
                                        </p:tgtEl>
                                        <p:attrNameLst>
                                          <p:attrName>ppt_h</p:attrName>
                                        </p:attrNameLst>
                                      </p:cBhvr>
                                      <p:tavLst>
                                        <p:tav tm="0">
                                          <p:val>
                                            <p:fltVal val="0"/>
                                          </p:val>
                                        </p:tav>
                                        <p:tav tm="100000">
                                          <p:val>
                                            <p:strVal val="#ppt_h"/>
                                          </p:val>
                                        </p:tav>
                                      </p:tavLst>
                                    </p:anim>
                                    <p:animEffect transition="in" filter="fade">
                                      <p:cBhvr>
                                        <p:cTn id="21" dur="500"/>
                                        <p:tgtEl>
                                          <p:spTgt spid="26"/>
                                        </p:tgtEl>
                                      </p:cBhvr>
                                    </p:animEffect>
                                  </p:childTnLst>
                                </p:cTn>
                              </p:par>
                              <p:par>
                                <p:cTn id="22" presetID="53" presetClass="entr" presetSubtype="16" fill="hold" nodeType="withEffect">
                                  <p:stCondLst>
                                    <p:cond delay="0"/>
                                  </p:stCondLst>
                                  <p:childTnLst>
                                    <p:set>
                                      <p:cBhvr>
                                        <p:cTn id="23" dur="1" fill="hold">
                                          <p:stCondLst>
                                            <p:cond delay="0"/>
                                          </p:stCondLst>
                                        </p:cTn>
                                        <p:tgtEl>
                                          <p:spTgt spid="54"/>
                                        </p:tgtEl>
                                        <p:attrNameLst>
                                          <p:attrName>style.visibility</p:attrName>
                                        </p:attrNameLst>
                                      </p:cBhvr>
                                      <p:to>
                                        <p:strVal val="visible"/>
                                      </p:to>
                                    </p:set>
                                    <p:anim calcmode="lin" valueType="num">
                                      <p:cBhvr>
                                        <p:cTn id="24" dur="500" fill="hold"/>
                                        <p:tgtEl>
                                          <p:spTgt spid="54"/>
                                        </p:tgtEl>
                                        <p:attrNameLst>
                                          <p:attrName>ppt_w</p:attrName>
                                        </p:attrNameLst>
                                      </p:cBhvr>
                                      <p:tavLst>
                                        <p:tav tm="0">
                                          <p:val>
                                            <p:fltVal val="0"/>
                                          </p:val>
                                        </p:tav>
                                        <p:tav tm="100000">
                                          <p:val>
                                            <p:strVal val="#ppt_w"/>
                                          </p:val>
                                        </p:tav>
                                      </p:tavLst>
                                    </p:anim>
                                    <p:anim calcmode="lin" valueType="num">
                                      <p:cBhvr>
                                        <p:cTn id="25" dur="500" fill="hold"/>
                                        <p:tgtEl>
                                          <p:spTgt spid="54"/>
                                        </p:tgtEl>
                                        <p:attrNameLst>
                                          <p:attrName>ppt_h</p:attrName>
                                        </p:attrNameLst>
                                      </p:cBhvr>
                                      <p:tavLst>
                                        <p:tav tm="0">
                                          <p:val>
                                            <p:fltVal val="0"/>
                                          </p:val>
                                        </p:tav>
                                        <p:tav tm="100000">
                                          <p:val>
                                            <p:strVal val="#ppt_h"/>
                                          </p:val>
                                        </p:tav>
                                      </p:tavLst>
                                    </p:anim>
                                    <p:animEffect transition="in" filter="fade">
                                      <p:cBhvr>
                                        <p:cTn id="26" dur="500"/>
                                        <p:tgtEl>
                                          <p:spTgt spid="54"/>
                                        </p:tgtEl>
                                      </p:cBhvr>
                                    </p:animEffect>
                                  </p:childTnLst>
                                </p:cTn>
                              </p:par>
                              <p:par>
                                <p:cTn id="27" presetID="53" presetClass="entr" presetSubtype="16"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anim calcmode="lin" valueType="num">
                                      <p:cBhvr>
                                        <p:cTn id="29" dur="500" fill="hold"/>
                                        <p:tgtEl>
                                          <p:spTgt spid="41"/>
                                        </p:tgtEl>
                                        <p:attrNameLst>
                                          <p:attrName>ppt_w</p:attrName>
                                        </p:attrNameLst>
                                      </p:cBhvr>
                                      <p:tavLst>
                                        <p:tav tm="0">
                                          <p:val>
                                            <p:fltVal val="0"/>
                                          </p:val>
                                        </p:tav>
                                        <p:tav tm="100000">
                                          <p:val>
                                            <p:strVal val="#ppt_w"/>
                                          </p:val>
                                        </p:tav>
                                      </p:tavLst>
                                    </p:anim>
                                    <p:anim calcmode="lin" valueType="num">
                                      <p:cBhvr>
                                        <p:cTn id="30" dur="500" fill="hold"/>
                                        <p:tgtEl>
                                          <p:spTgt spid="41"/>
                                        </p:tgtEl>
                                        <p:attrNameLst>
                                          <p:attrName>ppt_h</p:attrName>
                                        </p:attrNameLst>
                                      </p:cBhvr>
                                      <p:tavLst>
                                        <p:tav tm="0">
                                          <p:val>
                                            <p:fltVal val="0"/>
                                          </p:val>
                                        </p:tav>
                                        <p:tav tm="100000">
                                          <p:val>
                                            <p:strVal val="#ppt_h"/>
                                          </p:val>
                                        </p:tav>
                                      </p:tavLst>
                                    </p:anim>
                                    <p:animEffect transition="in" filter="fade">
                                      <p:cBhvr>
                                        <p:cTn id="31" dur="500"/>
                                        <p:tgtEl>
                                          <p:spTgt spid="41"/>
                                        </p:tgtEl>
                                      </p:cBhvr>
                                    </p:animEffect>
                                  </p:childTnLst>
                                </p:cTn>
                              </p:par>
                              <p:par>
                                <p:cTn id="32" presetID="53" presetClass="entr" presetSubtype="16" fill="hold" nodeType="withEffect">
                                  <p:stCondLst>
                                    <p:cond delay="0"/>
                                  </p:stCondLst>
                                  <p:childTnLst>
                                    <p:set>
                                      <p:cBhvr>
                                        <p:cTn id="33" dur="1" fill="hold">
                                          <p:stCondLst>
                                            <p:cond delay="0"/>
                                          </p:stCondLst>
                                        </p:cTn>
                                        <p:tgtEl>
                                          <p:spTgt spid="44"/>
                                        </p:tgtEl>
                                        <p:attrNameLst>
                                          <p:attrName>style.visibility</p:attrName>
                                        </p:attrNameLst>
                                      </p:cBhvr>
                                      <p:to>
                                        <p:strVal val="visible"/>
                                      </p:to>
                                    </p:set>
                                    <p:anim calcmode="lin" valueType="num">
                                      <p:cBhvr>
                                        <p:cTn id="34" dur="500" fill="hold"/>
                                        <p:tgtEl>
                                          <p:spTgt spid="44"/>
                                        </p:tgtEl>
                                        <p:attrNameLst>
                                          <p:attrName>ppt_w</p:attrName>
                                        </p:attrNameLst>
                                      </p:cBhvr>
                                      <p:tavLst>
                                        <p:tav tm="0">
                                          <p:val>
                                            <p:fltVal val="0"/>
                                          </p:val>
                                        </p:tav>
                                        <p:tav tm="100000">
                                          <p:val>
                                            <p:strVal val="#ppt_w"/>
                                          </p:val>
                                        </p:tav>
                                      </p:tavLst>
                                    </p:anim>
                                    <p:anim calcmode="lin" valueType="num">
                                      <p:cBhvr>
                                        <p:cTn id="35" dur="500" fill="hold"/>
                                        <p:tgtEl>
                                          <p:spTgt spid="44"/>
                                        </p:tgtEl>
                                        <p:attrNameLst>
                                          <p:attrName>ppt_h</p:attrName>
                                        </p:attrNameLst>
                                      </p:cBhvr>
                                      <p:tavLst>
                                        <p:tav tm="0">
                                          <p:val>
                                            <p:fltVal val="0"/>
                                          </p:val>
                                        </p:tav>
                                        <p:tav tm="100000">
                                          <p:val>
                                            <p:strVal val="#ppt_h"/>
                                          </p:val>
                                        </p:tav>
                                      </p:tavLst>
                                    </p:anim>
                                    <p:animEffect transition="in" filter="fade">
                                      <p:cBhvr>
                                        <p:cTn id="36" dur="500"/>
                                        <p:tgtEl>
                                          <p:spTgt spid="44"/>
                                        </p:tgtEl>
                                      </p:cBhvr>
                                    </p:animEffect>
                                  </p:childTnLst>
                                </p:cTn>
                              </p:par>
                              <p:par>
                                <p:cTn id="37" presetID="53" presetClass="entr" presetSubtype="16"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anim calcmode="lin" valueType="num">
                                      <p:cBhvr>
                                        <p:cTn id="39" dur="500" fill="hold"/>
                                        <p:tgtEl>
                                          <p:spTgt spid="47"/>
                                        </p:tgtEl>
                                        <p:attrNameLst>
                                          <p:attrName>ppt_w</p:attrName>
                                        </p:attrNameLst>
                                      </p:cBhvr>
                                      <p:tavLst>
                                        <p:tav tm="0">
                                          <p:val>
                                            <p:fltVal val="0"/>
                                          </p:val>
                                        </p:tav>
                                        <p:tav tm="100000">
                                          <p:val>
                                            <p:strVal val="#ppt_w"/>
                                          </p:val>
                                        </p:tav>
                                      </p:tavLst>
                                    </p:anim>
                                    <p:anim calcmode="lin" valueType="num">
                                      <p:cBhvr>
                                        <p:cTn id="40" dur="500" fill="hold"/>
                                        <p:tgtEl>
                                          <p:spTgt spid="47"/>
                                        </p:tgtEl>
                                        <p:attrNameLst>
                                          <p:attrName>ppt_h</p:attrName>
                                        </p:attrNameLst>
                                      </p:cBhvr>
                                      <p:tavLst>
                                        <p:tav tm="0">
                                          <p:val>
                                            <p:fltVal val="0"/>
                                          </p:val>
                                        </p:tav>
                                        <p:tav tm="100000">
                                          <p:val>
                                            <p:strVal val="#ppt_h"/>
                                          </p:val>
                                        </p:tav>
                                      </p:tavLst>
                                    </p:anim>
                                    <p:animEffect transition="in" filter="fade">
                                      <p:cBhvr>
                                        <p:cTn id="41" dur="500"/>
                                        <p:tgtEl>
                                          <p:spTgt spid="47"/>
                                        </p:tgtEl>
                                      </p:cBhvr>
                                    </p:animEffect>
                                  </p:childTnLst>
                                </p:cTn>
                              </p:par>
                              <p:par>
                                <p:cTn id="42" presetID="53" presetClass="entr" presetSubtype="16" fill="hold" nodeType="withEffect">
                                  <p:stCondLst>
                                    <p:cond delay="0"/>
                                  </p:stCondLst>
                                  <p:childTnLst>
                                    <p:set>
                                      <p:cBhvr>
                                        <p:cTn id="43" dur="1" fill="hold">
                                          <p:stCondLst>
                                            <p:cond delay="0"/>
                                          </p:stCondLst>
                                        </p:cTn>
                                        <p:tgtEl>
                                          <p:spTgt spid="51"/>
                                        </p:tgtEl>
                                        <p:attrNameLst>
                                          <p:attrName>style.visibility</p:attrName>
                                        </p:attrNameLst>
                                      </p:cBhvr>
                                      <p:to>
                                        <p:strVal val="visible"/>
                                      </p:to>
                                    </p:set>
                                    <p:anim calcmode="lin" valueType="num">
                                      <p:cBhvr>
                                        <p:cTn id="44" dur="500" fill="hold"/>
                                        <p:tgtEl>
                                          <p:spTgt spid="51"/>
                                        </p:tgtEl>
                                        <p:attrNameLst>
                                          <p:attrName>ppt_w</p:attrName>
                                        </p:attrNameLst>
                                      </p:cBhvr>
                                      <p:tavLst>
                                        <p:tav tm="0">
                                          <p:val>
                                            <p:fltVal val="0"/>
                                          </p:val>
                                        </p:tav>
                                        <p:tav tm="100000">
                                          <p:val>
                                            <p:strVal val="#ppt_w"/>
                                          </p:val>
                                        </p:tav>
                                      </p:tavLst>
                                    </p:anim>
                                    <p:anim calcmode="lin" valueType="num">
                                      <p:cBhvr>
                                        <p:cTn id="45" dur="500" fill="hold"/>
                                        <p:tgtEl>
                                          <p:spTgt spid="51"/>
                                        </p:tgtEl>
                                        <p:attrNameLst>
                                          <p:attrName>ppt_h</p:attrName>
                                        </p:attrNameLst>
                                      </p:cBhvr>
                                      <p:tavLst>
                                        <p:tav tm="0">
                                          <p:val>
                                            <p:fltVal val="0"/>
                                          </p:val>
                                        </p:tav>
                                        <p:tav tm="100000">
                                          <p:val>
                                            <p:strVal val="#ppt_h"/>
                                          </p:val>
                                        </p:tav>
                                      </p:tavLst>
                                    </p:anim>
                                    <p:animEffect transition="in" filter="fade">
                                      <p:cBhvr>
                                        <p:cTn id="4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dirty="0">
                <a:solidFill>
                  <a:schemeClr val="lt1"/>
                </a:solidFill>
              </a:rPr>
              <a:t>Problem Statement</a:t>
            </a:r>
            <a:endParaRPr lang="en-US" sz="2700" dirty="0"/>
          </a:p>
        </p:txBody>
      </p:sp>
      <p:sp>
        <p:nvSpPr>
          <p:cNvPr id="3" name="TextBox 2">
            <a:extLst>
              <a:ext uri="{FF2B5EF4-FFF2-40B4-BE49-F238E27FC236}">
                <a16:creationId xmlns:a16="http://schemas.microsoft.com/office/drawing/2014/main" id="{92225D05-83BA-DA69-E3D8-D8C86B2C9EAE}"/>
              </a:ext>
            </a:extLst>
          </p:cNvPr>
          <p:cNvSpPr txBox="1"/>
          <p:nvPr/>
        </p:nvSpPr>
        <p:spPr>
          <a:xfrm>
            <a:off x="1219200" y="2933700"/>
            <a:ext cx="14020800" cy="6494085"/>
          </a:xfrm>
          <a:prstGeom prst="rect">
            <a:avLst/>
          </a:prstGeom>
          <a:noFill/>
        </p:spPr>
        <p:txBody>
          <a:bodyPr wrap="square" rtlCol="0">
            <a:spAutoFit/>
          </a:bodyPr>
          <a:lstStyle/>
          <a:p>
            <a:pPr marL="457200" indent="-457200">
              <a:buFont typeface="Arial" panose="020B0604020202020204" pitchFamily="34" charset="0"/>
              <a:buChar char="•"/>
            </a:pPr>
            <a:endParaRPr lang="en-US" sz="3200" b="1" dirty="0"/>
          </a:p>
          <a:p>
            <a:pPr marL="457200" indent="-457200">
              <a:buFont typeface="Arial" panose="020B0604020202020204" pitchFamily="34" charset="0"/>
              <a:buChar char="•"/>
            </a:pPr>
            <a:r>
              <a:rPr lang="en-US" sz="3200" dirty="0"/>
              <a:t>Banks can lose significant revenue and customer lifetime value when existing customers leave. The challenge is that customer data is often distributed across separate systems, such as </a:t>
            </a:r>
            <a:r>
              <a:rPr lang="en-US" sz="3200" b="1" dirty="0"/>
              <a:t>customer profiles, product usage, marketing offers, and support interactions</a:t>
            </a:r>
            <a:r>
              <a:rPr lang="en-US" sz="3200" dirty="0"/>
              <a:t>, making it difficult to have a unified view of customer behavior.</a:t>
            </a:r>
            <a:endParaRPr lang="ar-EG" sz="3200" dirty="0"/>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The goal of this project is to </a:t>
            </a:r>
            <a:r>
              <a:rPr lang="en-US" sz="3200" b="1" dirty="0"/>
              <a:t>integrate these different data sources into a single Customer 360 view</a:t>
            </a:r>
            <a:r>
              <a:rPr lang="en-US" sz="3200" dirty="0"/>
              <a:t> and analyze customer behavior to uncover the key factors and patterns associated with churn. This unified view will help the bank better understand </a:t>
            </a:r>
            <a:r>
              <a:rPr lang="en-US" sz="3200" b="1" dirty="0"/>
              <a:t>who is more likely to churn and what behaviors or interactions are associated with their decision to leave.</a:t>
            </a:r>
            <a:endParaRPr lang="en-US" sz="3200" dirty="0"/>
          </a:p>
          <a:p>
            <a:pPr marL="457200" indent="-457200">
              <a:buFont typeface="Arial" panose="020B0604020202020204" pitchFamily="34" charset="0"/>
              <a:buChar char="•"/>
            </a:pPr>
            <a:endParaRPr lang="en-US" sz="3200" dirty="0"/>
          </a:p>
        </p:txBody>
      </p:sp>
      <p:pic>
        <p:nvPicPr>
          <p:cNvPr id="4098" name="Picture 2">
            <a:extLst>
              <a:ext uri="{FF2B5EF4-FFF2-40B4-BE49-F238E27FC236}">
                <a16:creationId xmlns:a16="http://schemas.microsoft.com/office/drawing/2014/main" id="{D16FE9FC-D11C-5965-3D8A-221803C374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1151811"/>
            <a:ext cx="1473369" cy="1473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2486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dirty="0">
                <a:solidFill>
                  <a:schemeClr val="bg1"/>
                </a:solidFill>
              </a:rPr>
              <a:t>Business Case</a:t>
            </a:r>
            <a:endParaRPr lang="en-US" sz="2700" dirty="0">
              <a:solidFill>
                <a:schemeClr val="bg1"/>
              </a:solidFill>
            </a:endParaRPr>
          </a:p>
        </p:txBody>
      </p:sp>
      <p:sp>
        <p:nvSpPr>
          <p:cNvPr id="3" name="TextBox 2">
            <a:extLst>
              <a:ext uri="{FF2B5EF4-FFF2-40B4-BE49-F238E27FC236}">
                <a16:creationId xmlns:a16="http://schemas.microsoft.com/office/drawing/2014/main" id="{92225D05-83BA-DA69-E3D8-D8C86B2C9EAE}"/>
              </a:ext>
            </a:extLst>
          </p:cNvPr>
          <p:cNvSpPr txBox="1"/>
          <p:nvPr/>
        </p:nvSpPr>
        <p:spPr>
          <a:xfrm>
            <a:off x="1219200" y="2933700"/>
            <a:ext cx="14020800" cy="3046988"/>
          </a:xfrm>
          <a:prstGeom prst="rect">
            <a:avLst/>
          </a:prstGeom>
          <a:noFill/>
        </p:spPr>
        <p:txBody>
          <a:bodyPr wrap="square" rtlCol="0">
            <a:spAutoFit/>
          </a:bodyPr>
          <a:lstStyle/>
          <a:p>
            <a:pPr marL="457200" indent="-457200">
              <a:buFont typeface="Arial" panose="020B0604020202020204" pitchFamily="34" charset="0"/>
              <a:buChar char="•"/>
            </a:pPr>
            <a:endParaRPr lang="en-US" sz="3200" b="1" dirty="0"/>
          </a:p>
          <a:p>
            <a:pPr marL="457200" indent="-457200">
              <a:buFont typeface="Arial" panose="020B0604020202020204" pitchFamily="34" charset="0"/>
              <a:buChar char="•"/>
            </a:pPr>
            <a:r>
              <a:rPr lang="en-US" sz="3200" dirty="0"/>
              <a:t>By understanding churn patterns, the bank can move from a </a:t>
            </a:r>
            <a:r>
              <a:rPr lang="en-US" sz="3200" b="1" dirty="0"/>
              <a:t>reactive approach</a:t>
            </a:r>
            <a:r>
              <a:rPr lang="en-US" sz="3200" dirty="0"/>
              <a:t>, where customers are addressed after they leave, to a more </a:t>
            </a:r>
            <a:r>
              <a:rPr lang="en-US" sz="3200" b="1" dirty="0"/>
              <a:t>data-driven retention approach</a:t>
            </a:r>
            <a:r>
              <a:rPr lang="en-US" sz="3200" dirty="0"/>
              <a:t>. The insights from the analysis can help identify high-risk customer segments, improve customer engagement, and support more targeted retention strategies.</a:t>
            </a:r>
          </a:p>
        </p:txBody>
      </p:sp>
      <p:pic>
        <p:nvPicPr>
          <p:cNvPr id="4098" name="Picture 2">
            <a:extLst>
              <a:ext uri="{FF2B5EF4-FFF2-40B4-BE49-F238E27FC236}">
                <a16:creationId xmlns:a16="http://schemas.microsoft.com/office/drawing/2014/main" id="{D16FE9FC-D11C-5965-3D8A-221803C3741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1151811"/>
            <a:ext cx="1473369" cy="1473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533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rPr>
              <a:t>Agenda</a:t>
            </a:r>
            <a:endParaRPr sz="5000" b="1" dirty="0">
              <a:solidFill>
                <a:schemeClr val="lt1"/>
              </a:solidFill>
            </a:endParaRPr>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Team</a:t>
              </a:r>
              <a:endParaRPr sz="2700" dirty="0">
                <a:solidFill>
                  <a:schemeClr val="bg1">
                    <a:lumMod val="50000"/>
                  </a:schemeClr>
                </a:solidFill>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5" name="Google Shape;59;p3">
            <a:extLst>
              <a:ext uri="{FF2B5EF4-FFF2-40B4-BE49-F238E27FC236}">
                <a16:creationId xmlns:a16="http://schemas.microsoft.com/office/drawing/2014/main" id="{3C8824F9-5ABC-4EFF-668A-50A202A3809F}"/>
              </a:ext>
            </a:extLst>
          </p:cNvPr>
          <p:cNvGrpSpPr/>
          <p:nvPr/>
        </p:nvGrpSpPr>
        <p:grpSpPr>
          <a:xfrm>
            <a:off x="2819400" y="5448300"/>
            <a:ext cx="8553420" cy="417167"/>
            <a:chOff x="571500" y="5165783"/>
            <a:chExt cx="5702280" cy="278111"/>
          </a:xfrm>
        </p:grpSpPr>
        <p:sp>
          <p:nvSpPr>
            <p:cNvPr id="6" name="Google Shape;60;p3">
              <a:extLst>
                <a:ext uri="{FF2B5EF4-FFF2-40B4-BE49-F238E27FC236}">
                  <a16:creationId xmlns:a16="http://schemas.microsoft.com/office/drawing/2014/main" id="{110235D1-3508-1C69-D303-3222F55949D0}"/>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ea typeface="Arial" panose="020B0604020202020204" pitchFamily="34" charset="0"/>
                  <a:cs typeface="Arial" panose="020B0604020202020204" pitchFamily="34" charset="0"/>
                </a:rPr>
                <a:t>Methodology</a:t>
              </a:r>
              <a:endParaRPr lang="en-US" sz="3600" b="1" dirty="0"/>
            </a:p>
          </p:txBody>
        </p:sp>
        <p:sp>
          <p:nvSpPr>
            <p:cNvPr id="7" name="Google Shape;61;p3">
              <a:extLst>
                <a:ext uri="{FF2B5EF4-FFF2-40B4-BE49-F238E27FC236}">
                  <a16:creationId xmlns:a16="http://schemas.microsoft.com/office/drawing/2014/main" id="{E6458DC3-59A4-0EBF-A289-048FA7A60A77}"/>
                </a:ext>
              </a:extLst>
            </p:cNvPr>
            <p:cNvSpPr/>
            <p:nvPr/>
          </p:nvSpPr>
          <p:spPr>
            <a:xfrm>
              <a:off x="571500" y="5165783"/>
              <a:ext cx="36000" cy="252000"/>
            </a:xfrm>
            <a:prstGeom prst="rect">
              <a:avLst/>
            </a:prstGeom>
            <a:solidFill>
              <a:srgbClr val="193EB0"/>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8" name="Google Shape;59;p3">
            <a:extLst>
              <a:ext uri="{FF2B5EF4-FFF2-40B4-BE49-F238E27FC236}">
                <a16:creationId xmlns:a16="http://schemas.microsoft.com/office/drawing/2014/main" id="{0E83B93D-FB8E-813F-FBA1-1E0AA2590DF9}"/>
              </a:ext>
            </a:extLst>
          </p:cNvPr>
          <p:cNvGrpSpPr/>
          <p:nvPr/>
        </p:nvGrpSpPr>
        <p:grpSpPr>
          <a:xfrm>
            <a:off x="2838827" y="6691517"/>
            <a:ext cx="8553420" cy="417186"/>
            <a:chOff x="571500" y="5165783"/>
            <a:chExt cx="5702280" cy="278124"/>
          </a:xfrm>
        </p:grpSpPr>
        <p:sp>
          <p:nvSpPr>
            <p:cNvPr id="9" name="Google Shape;60;p3">
              <a:extLst>
                <a:ext uri="{FF2B5EF4-FFF2-40B4-BE49-F238E27FC236}">
                  <a16:creationId xmlns:a16="http://schemas.microsoft.com/office/drawing/2014/main" id="{FDE556D7-EC6D-1D09-60BA-1733684DF161}"/>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rPr>
                <a:t>Results and Insights</a:t>
              </a:r>
            </a:p>
          </p:txBody>
        </p:sp>
        <p:sp>
          <p:nvSpPr>
            <p:cNvPr id="10" name="Google Shape;61;p3">
              <a:extLst>
                <a:ext uri="{FF2B5EF4-FFF2-40B4-BE49-F238E27FC236}">
                  <a16:creationId xmlns:a16="http://schemas.microsoft.com/office/drawing/2014/main" id="{6277DDF3-91B1-AA00-1386-A1A6AE3E8793}"/>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chemeClr val="lt1"/>
                </a:solidFill>
                <a:latin typeface="Calibri"/>
                <a:ea typeface="Calibri"/>
                <a:cs typeface="Calibri"/>
                <a:sym typeface="Calibri"/>
              </a:endParaRPr>
            </a:p>
          </p:txBody>
        </p:sp>
      </p:grpSp>
      <p:grpSp>
        <p:nvGrpSpPr>
          <p:cNvPr id="11" name="Google Shape;59;p3">
            <a:extLst>
              <a:ext uri="{FF2B5EF4-FFF2-40B4-BE49-F238E27FC236}">
                <a16:creationId xmlns:a16="http://schemas.microsoft.com/office/drawing/2014/main" id="{3CA8EB46-EC47-6EAB-45AB-35AABA7AD741}"/>
              </a:ext>
            </a:extLst>
          </p:cNvPr>
          <p:cNvGrpSpPr/>
          <p:nvPr/>
        </p:nvGrpSpPr>
        <p:grpSpPr>
          <a:xfrm>
            <a:off x="2838827" y="7283645"/>
            <a:ext cx="8553420" cy="417183"/>
            <a:chOff x="571500" y="5165783"/>
            <a:chExt cx="5702280" cy="278122"/>
          </a:xfrm>
        </p:grpSpPr>
        <p:sp>
          <p:nvSpPr>
            <p:cNvPr id="12" name="Google Shape;60;p3">
              <a:extLst>
                <a:ext uri="{FF2B5EF4-FFF2-40B4-BE49-F238E27FC236}">
                  <a16:creationId xmlns:a16="http://schemas.microsoft.com/office/drawing/2014/main" id="{2231DFCB-7FA7-1BBF-5F08-CDF456B44596}"/>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endParaRPr>
            </a:p>
          </p:txBody>
        </p:sp>
        <p:sp>
          <p:nvSpPr>
            <p:cNvPr id="13" name="Google Shape;61;p3">
              <a:extLst>
                <a:ext uri="{FF2B5EF4-FFF2-40B4-BE49-F238E27FC236}">
                  <a16:creationId xmlns:a16="http://schemas.microsoft.com/office/drawing/2014/main" id="{5EF8DC89-3F49-24B6-3A27-FDD5D5F053DC}"/>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4" name="Google Shape;59;p3">
            <a:extLst>
              <a:ext uri="{FF2B5EF4-FFF2-40B4-BE49-F238E27FC236}">
                <a16:creationId xmlns:a16="http://schemas.microsoft.com/office/drawing/2014/main" id="{A19A8D05-497D-B04B-F2FA-1D1B5594F206}"/>
              </a:ext>
            </a:extLst>
          </p:cNvPr>
          <p:cNvGrpSpPr/>
          <p:nvPr/>
        </p:nvGrpSpPr>
        <p:grpSpPr>
          <a:xfrm>
            <a:off x="2838827" y="7879169"/>
            <a:ext cx="8553420" cy="417185"/>
            <a:chOff x="571500" y="5165783"/>
            <a:chExt cx="5702280" cy="278123"/>
          </a:xfrm>
        </p:grpSpPr>
        <p:sp>
          <p:nvSpPr>
            <p:cNvPr id="15" name="Google Shape;60;p3">
              <a:extLst>
                <a:ext uri="{FF2B5EF4-FFF2-40B4-BE49-F238E27FC236}">
                  <a16:creationId xmlns:a16="http://schemas.microsoft.com/office/drawing/2014/main" id="{AD80F6BE-9137-46A3-7D4B-B3F6D935D845}"/>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a:solidFill>
                  <a:schemeClr val="tx1">
                    <a:lumMod val="50000"/>
                    <a:lumOff val="50000"/>
                  </a:schemeClr>
                </a:solidFill>
              </a:endParaRPr>
            </a:p>
          </p:txBody>
        </p:sp>
        <p:sp>
          <p:nvSpPr>
            <p:cNvPr id="16" name="Google Shape;61;p3">
              <a:extLst>
                <a:ext uri="{FF2B5EF4-FFF2-40B4-BE49-F238E27FC236}">
                  <a16:creationId xmlns:a16="http://schemas.microsoft.com/office/drawing/2014/main" id="{349DEBB7-FAA1-C511-4D90-C55FABEDE3E8}"/>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0" name="Google Shape;56;p3">
            <a:extLst>
              <a:ext uri="{FF2B5EF4-FFF2-40B4-BE49-F238E27FC236}">
                <a16:creationId xmlns:a16="http://schemas.microsoft.com/office/drawing/2014/main" id="{F008D7E0-5724-D67D-06AA-9C1725D5BFDC}"/>
              </a:ext>
            </a:extLst>
          </p:cNvPr>
          <p:cNvGrpSpPr/>
          <p:nvPr/>
        </p:nvGrpSpPr>
        <p:grpSpPr>
          <a:xfrm>
            <a:off x="2819400" y="6057900"/>
            <a:ext cx="8553420" cy="417186"/>
            <a:chOff x="571500" y="5165783"/>
            <a:chExt cx="5702280" cy="278124"/>
          </a:xfrm>
        </p:grpSpPr>
        <p:sp>
          <p:nvSpPr>
            <p:cNvPr id="21" name="Google Shape;57;p3">
              <a:extLst>
                <a:ext uri="{FF2B5EF4-FFF2-40B4-BE49-F238E27FC236}">
                  <a16:creationId xmlns:a16="http://schemas.microsoft.com/office/drawing/2014/main" id="{91F47DB6-1F13-BCA9-1F4A-C0BE191FBDAC}"/>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Key Tasks</a:t>
              </a:r>
            </a:p>
          </p:txBody>
        </p:sp>
        <p:sp>
          <p:nvSpPr>
            <p:cNvPr id="22" name="Google Shape;58;p3">
              <a:extLst>
                <a:ext uri="{FF2B5EF4-FFF2-40B4-BE49-F238E27FC236}">
                  <a16:creationId xmlns:a16="http://schemas.microsoft.com/office/drawing/2014/main" id="{6A8D02FD-47C3-273C-A1A4-117CD8F6C287}"/>
                </a:ext>
              </a:extLst>
            </p:cNvPr>
            <p:cNvSpPr/>
            <p:nvPr/>
          </p:nvSpPr>
          <p:spPr>
            <a:xfrm>
              <a:off x="571500" y="5165783"/>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Problem Statement</a:t>
              </a:r>
              <a:endParaRPr lang="en-US" sz="3600" dirty="0">
                <a:solidFill>
                  <a:schemeClr val="bg1">
                    <a:lumMod val="50000"/>
                  </a:schemeClr>
                </a:solidFill>
              </a:endParaRPr>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pic>
        <p:nvPicPr>
          <p:cNvPr id="23" name="Picture 4">
            <a:extLst>
              <a:ext uri="{FF2B5EF4-FFF2-40B4-BE49-F238E27FC236}">
                <a16:creationId xmlns:a16="http://schemas.microsoft.com/office/drawing/2014/main" id="{A3D558AA-FFCE-836B-1066-2FB9043892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62" y="363449"/>
            <a:ext cx="2736878" cy="2736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0317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fltVal val="0"/>
                                          </p:val>
                                        </p:tav>
                                        <p:tav tm="100000">
                                          <p:val>
                                            <p:strVal val="#ppt_w"/>
                                          </p:val>
                                        </p:tav>
                                      </p:tavLst>
                                    </p:anim>
                                    <p:anim calcmode="lin" valueType="num">
                                      <p:cBhvr>
                                        <p:cTn id="20" dur="500" fill="hold"/>
                                        <p:tgtEl>
                                          <p:spTgt spid="20"/>
                                        </p:tgtEl>
                                        <p:attrNameLst>
                                          <p:attrName>ppt_h</p:attrName>
                                        </p:attrNameLst>
                                      </p:cBhvr>
                                      <p:tavLst>
                                        <p:tav tm="0">
                                          <p:val>
                                            <p:fltVal val="0"/>
                                          </p:val>
                                        </p:tav>
                                        <p:tav tm="100000">
                                          <p:val>
                                            <p:strVal val="#ppt_h"/>
                                          </p:val>
                                        </p:tav>
                                      </p:tavLst>
                                    </p:anim>
                                    <p:animEffect transition="in" filter="fade">
                                      <p:cBhvr>
                                        <p:cTn id="21" dur="500"/>
                                        <p:tgtEl>
                                          <p:spTgt spid="20"/>
                                        </p:tgtEl>
                                      </p:cBhvr>
                                    </p:animEffect>
                                  </p:childTnLst>
                                </p:cTn>
                              </p:par>
                              <p:par>
                                <p:cTn id="22" presetID="53" presetClass="entr" presetSubtype="16"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par>
                                <p:cTn id="27" presetID="53" presetClass="entr" presetSubtype="16"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53" presetClass="entr" presetSubtype="16"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par>
                                <p:cTn id="42" presetID="53" presetClass="entr" presetSubtype="16"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 calcmode="lin" valueType="num">
                                      <p:cBhvr>
                                        <p:cTn id="44" dur="500" fill="hold"/>
                                        <p:tgtEl>
                                          <p:spTgt spid="26"/>
                                        </p:tgtEl>
                                        <p:attrNameLst>
                                          <p:attrName>ppt_w</p:attrName>
                                        </p:attrNameLst>
                                      </p:cBhvr>
                                      <p:tavLst>
                                        <p:tav tm="0">
                                          <p:val>
                                            <p:fltVal val="0"/>
                                          </p:val>
                                        </p:tav>
                                        <p:tav tm="100000">
                                          <p:val>
                                            <p:strVal val="#ppt_w"/>
                                          </p:val>
                                        </p:tav>
                                      </p:tavLst>
                                    </p:anim>
                                    <p:anim calcmode="lin" valueType="num">
                                      <p:cBhvr>
                                        <p:cTn id="45" dur="500" fill="hold"/>
                                        <p:tgtEl>
                                          <p:spTgt spid="26"/>
                                        </p:tgtEl>
                                        <p:attrNameLst>
                                          <p:attrName>ppt_h</p:attrName>
                                        </p:attrNameLst>
                                      </p:cBhvr>
                                      <p:tavLst>
                                        <p:tav tm="0">
                                          <p:val>
                                            <p:fltVal val="0"/>
                                          </p:val>
                                        </p:tav>
                                        <p:tav tm="100000">
                                          <p:val>
                                            <p:strVal val="#ppt_h"/>
                                          </p:val>
                                        </p:tav>
                                      </p:tavLst>
                                    </p:anim>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dirty="0">
                <a:solidFill>
                  <a:schemeClr val="bg1"/>
                </a:solidFill>
              </a:rPr>
              <a:t>Methodology</a:t>
            </a:r>
            <a:endParaRPr lang="en-US" sz="2700" dirty="0">
              <a:solidFill>
                <a:schemeClr val="bg1"/>
              </a:solidFill>
            </a:endParaRPr>
          </a:p>
        </p:txBody>
      </p:sp>
      <p:pic>
        <p:nvPicPr>
          <p:cNvPr id="6146" name="Picture 2">
            <a:extLst>
              <a:ext uri="{FF2B5EF4-FFF2-40B4-BE49-F238E27FC236}">
                <a16:creationId xmlns:a16="http://schemas.microsoft.com/office/drawing/2014/main" id="{95FF7F5A-690C-64EE-C5AD-7936737CFD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023408"/>
            <a:ext cx="2094057" cy="209405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126F4218-F5CF-BA24-2E68-1BDCC0858C08}"/>
              </a:ext>
            </a:extLst>
          </p:cNvPr>
          <p:cNvSpPr/>
          <p:nvPr/>
        </p:nvSpPr>
        <p:spPr>
          <a:xfrm>
            <a:off x="1188720" y="1943101"/>
            <a:ext cx="792480" cy="304800"/>
          </a:xfrm>
          <a:prstGeom prst="rect">
            <a:avLst/>
          </a:prstGeom>
          <a:solidFill>
            <a:srgbClr val="193EB0"/>
          </a:solidFill>
          <a:ln>
            <a:solidFill>
              <a:srgbClr val="193E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0C0B4B78-7469-F834-58DB-BF4E5EC5B6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3159974"/>
            <a:ext cx="16897350" cy="6373530"/>
          </a:xfrm>
          <a:prstGeom prst="rect">
            <a:avLst/>
          </a:prstGeom>
        </p:spPr>
      </p:pic>
    </p:spTree>
    <p:extLst>
      <p:ext uri="{BB962C8B-B14F-4D97-AF65-F5344CB8AC3E}">
        <p14:creationId xmlns:p14="http://schemas.microsoft.com/office/powerpoint/2010/main" val="616453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rPr>
              <a:t>Agenda</a:t>
            </a:r>
            <a:endParaRPr sz="5000" b="1" dirty="0">
              <a:solidFill>
                <a:schemeClr val="lt1"/>
              </a:solidFill>
            </a:endParaRPr>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Team</a:t>
              </a:r>
              <a:endParaRPr sz="2700" dirty="0">
                <a:solidFill>
                  <a:schemeClr val="bg1">
                    <a:lumMod val="50000"/>
                  </a:schemeClr>
                </a:solidFill>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5" name="Google Shape;59;p3">
            <a:extLst>
              <a:ext uri="{FF2B5EF4-FFF2-40B4-BE49-F238E27FC236}">
                <a16:creationId xmlns:a16="http://schemas.microsoft.com/office/drawing/2014/main" id="{3C8824F9-5ABC-4EFF-668A-50A202A3809F}"/>
              </a:ext>
            </a:extLst>
          </p:cNvPr>
          <p:cNvGrpSpPr/>
          <p:nvPr/>
        </p:nvGrpSpPr>
        <p:grpSpPr>
          <a:xfrm>
            <a:off x="2819400" y="5448300"/>
            <a:ext cx="8553420" cy="417167"/>
            <a:chOff x="571500" y="5165783"/>
            <a:chExt cx="5702280" cy="278111"/>
          </a:xfrm>
        </p:grpSpPr>
        <p:sp>
          <p:nvSpPr>
            <p:cNvPr id="6" name="Google Shape;60;p3">
              <a:extLst>
                <a:ext uri="{FF2B5EF4-FFF2-40B4-BE49-F238E27FC236}">
                  <a16:creationId xmlns:a16="http://schemas.microsoft.com/office/drawing/2014/main" id="{110235D1-3508-1C69-D303-3222F55949D0}"/>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endParaRPr>
            </a:p>
          </p:txBody>
        </p:sp>
        <p:sp>
          <p:nvSpPr>
            <p:cNvPr id="7" name="Google Shape;61;p3">
              <a:extLst>
                <a:ext uri="{FF2B5EF4-FFF2-40B4-BE49-F238E27FC236}">
                  <a16:creationId xmlns:a16="http://schemas.microsoft.com/office/drawing/2014/main" id="{E6458DC3-59A4-0EBF-A289-048FA7A60A77}"/>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8" name="Google Shape;59;p3">
            <a:extLst>
              <a:ext uri="{FF2B5EF4-FFF2-40B4-BE49-F238E27FC236}">
                <a16:creationId xmlns:a16="http://schemas.microsoft.com/office/drawing/2014/main" id="{0E83B93D-FB8E-813F-FBA1-1E0AA2590DF9}"/>
              </a:ext>
            </a:extLst>
          </p:cNvPr>
          <p:cNvGrpSpPr/>
          <p:nvPr/>
        </p:nvGrpSpPr>
        <p:grpSpPr>
          <a:xfrm>
            <a:off x="2838827" y="6691517"/>
            <a:ext cx="8553420" cy="417186"/>
            <a:chOff x="571500" y="5165783"/>
            <a:chExt cx="5702280" cy="278124"/>
          </a:xfrm>
        </p:grpSpPr>
        <p:sp>
          <p:nvSpPr>
            <p:cNvPr id="9" name="Google Shape;60;p3">
              <a:extLst>
                <a:ext uri="{FF2B5EF4-FFF2-40B4-BE49-F238E27FC236}">
                  <a16:creationId xmlns:a16="http://schemas.microsoft.com/office/drawing/2014/main" id="{FDE556D7-EC6D-1D09-60BA-1733684DF161}"/>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rPr>
                <a:t>Results and Insights</a:t>
              </a:r>
            </a:p>
          </p:txBody>
        </p:sp>
        <p:sp>
          <p:nvSpPr>
            <p:cNvPr id="10" name="Google Shape;61;p3">
              <a:extLst>
                <a:ext uri="{FF2B5EF4-FFF2-40B4-BE49-F238E27FC236}">
                  <a16:creationId xmlns:a16="http://schemas.microsoft.com/office/drawing/2014/main" id="{6277DDF3-91B1-AA00-1386-A1A6AE3E8793}"/>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chemeClr val="lt1"/>
                </a:solidFill>
                <a:latin typeface="Calibri"/>
                <a:ea typeface="Calibri"/>
                <a:cs typeface="Calibri"/>
                <a:sym typeface="Calibri"/>
              </a:endParaRPr>
            </a:p>
          </p:txBody>
        </p:sp>
      </p:grpSp>
      <p:grpSp>
        <p:nvGrpSpPr>
          <p:cNvPr id="11" name="Google Shape;59;p3">
            <a:extLst>
              <a:ext uri="{FF2B5EF4-FFF2-40B4-BE49-F238E27FC236}">
                <a16:creationId xmlns:a16="http://schemas.microsoft.com/office/drawing/2014/main" id="{3CA8EB46-EC47-6EAB-45AB-35AABA7AD741}"/>
              </a:ext>
            </a:extLst>
          </p:cNvPr>
          <p:cNvGrpSpPr/>
          <p:nvPr/>
        </p:nvGrpSpPr>
        <p:grpSpPr>
          <a:xfrm>
            <a:off x="2838827" y="7283645"/>
            <a:ext cx="8553420" cy="417183"/>
            <a:chOff x="571500" y="5165783"/>
            <a:chExt cx="5702280" cy="278122"/>
          </a:xfrm>
        </p:grpSpPr>
        <p:sp>
          <p:nvSpPr>
            <p:cNvPr id="12" name="Google Shape;60;p3">
              <a:extLst>
                <a:ext uri="{FF2B5EF4-FFF2-40B4-BE49-F238E27FC236}">
                  <a16:creationId xmlns:a16="http://schemas.microsoft.com/office/drawing/2014/main" id="{2231DFCB-7FA7-1BBF-5F08-CDF456B44596}"/>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endParaRPr>
            </a:p>
          </p:txBody>
        </p:sp>
        <p:sp>
          <p:nvSpPr>
            <p:cNvPr id="13" name="Google Shape;61;p3">
              <a:extLst>
                <a:ext uri="{FF2B5EF4-FFF2-40B4-BE49-F238E27FC236}">
                  <a16:creationId xmlns:a16="http://schemas.microsoft.com/office/drawing/2014/main" id="{5EF8DC89-3F49-24B6-3A27-FDD5D5F053DC}"/>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4" name="Google Shape;59;p3">
            <a:extLst>
              <a:ext uri="{FF2B5EF4-FFF2-40B4-BE49-F238E27FC236}">
                <a16:creationId xmlns:a16="http://schemas.microsoft.com/office/drawing/2014/main" id="{A19A8D05-497D-B04B-F2FA-1D1B5594F206}"/>
              </a:ext>
            </a:extLst>
          </p:cNvPr>
          <p:cNvGrpSpPr/>
          <p:nvPr/>
        </p:nvGrpSpPr>
        <p:grpSpPr>
          <a:xfrm>
            <a:off x="2838827" y="7879169"/>
            <a:ext cx="8553420" cy="417185"/>
            <a:chOff x="571500" y="5165783"/>
            <a:chExt cx="5702280" cy="278123"/>
          </a:xfrm>
        </p:grpSpPr>
        <p:sp>
          <p:nvSpPr>
            <p:cNvPr id="15" name="Google Shape;60;p3">
              <a:extLst>
                <a:ext uri="{FF2B5EF4-FFF2-40B4-BE49-F238E27FC236}">
                  <a16:creationId xmlns:a16="http://schemas.microsoft.com/office/drawing/2014/main" id="{AD80F6BE-9137-46A3-7D4B-B3F6D935D845}"/>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a:solidFill>
                  <a:schemeClr val="tx1">
                    <a:lumMod val="50000"/>
                    <a:lumOff val="50000"/>
                  </a:schemeClr>
                </a:solidFill>
              </a:endParaRPr>
            </a:p>
          </p:txBody>
        </p:sp>
        <p:sp>
          <p:nvSpPr>
            <p:cNvPr id="16" name="Google Shape;61;p3">
              <a:extLst>
                <a:ext uri="{FF2B5EF4-FFF2-40B4-BE49-F238E27FC236}">
                  <a16:creationId xmlns:a16="http://schemas.microsoft.com/office/drawing/2014/main" id="{349DEBB7-FAA1-C511-4D90-C55FABEDE3E8}"/>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0" name="Google Shape;56;p3">
            <a:extLst>
              <a:ext uri="{FF2B5EF4-FFF2-40B4-BE49-F238E27FC236}">
                <a16:creationId xmlns:a16="http://schemas.microsoft.com/office/drawing/2014/main" id="{F008D7E0-5724-D67D-06AA-9C1725D5BFDC}"/>
              </a:ext>
            </a:extLst>
          </p:cNvPr>
          <p:cNvGrpSpPr/>
          <p:nvPr/>
        </p:nvGrpSpPr>
        <p:grpSpPr>
          <a:xfrm>
            <a:off x="2819400" y="6057900"/>
            <a:ext cx="8553420" cy="417186"/>
            <a:chOff x="571500" y="5165783"/>
            <a:chExt cx="5702280" cy="278124"/>
          </a:xfrm>
        </p:grpSpPr>
        <p:sp>
          <p:nvSpPr>
            <p:cNvPr id="21" name="Google Shape;57;p3">
              <a:extLst>
                <a:ext uri="{FF2B5EF4-FFF2-40B4-BE49-F238E27FC236}">
                  <a16:creationId xmlns:a16="http://schemas.microsoft.com/office/drawing/2014/main" id="{91F47DB6-1F13-BCA9-1F4A-C0BE191FBDAC}"/>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cs typeface="Arial" panose="020B0604020202020204" pitchFamily="34" charset="0"/>
                </a:rPr>
                <a:t>Key Tasks</a:t>
              </a:r>
            </a:p>
          </p:txBody>
        </p:sp>
        <p:sp>
          <p:nvSpPr>
            <p:cNvPr id="22" name="Google Shape;58;p3">
              <a:extLst>
                <a:ext uri="{FF2B5EF4-FFF2-40B4-BE49-F238E27FC236}">
                  <a16:creationId xmlns:a16="http://schemas.microsoft.com/office/drawing/2014/main" id="{6A8D02FD-47C3-273C-A1A4-117CD8F6C287}"/>
                </a:ext>
              </a:extLst>
            </p:cNvPr>
            <p:cNvSpPr/>
            <p:nvPr/>
          </p:nvSpPr>
          <p:spPr>
            <a:xfrm>
              <a:off x="571500" y="5165783"/>
              <a:ext cx="36000" cy="252000"/>
            </a:xfrm>
            <a:prstGeom prst="rect">
              <a:avLst/>
            </a:prstGeom>
            <a:solidFill>
              <a:srgbClr val="193EB0"/>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Problem Statement</a:t>
              </a:r>
              <a:endParaRPr lang="en-US" sz="3600" dirty="0">
                <a:solidFill>
                  <a:schemeClr val="bg1">
                    <a:lumMod val="50000"/>
                  </a:schemeClr>
                </a:solidFill>
              </a:endParaRPr>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pic>
        <p:nvPicPr>
          <p:cNvPr id="23" name="Picture 4">
            <a:extLst>
              <a:ext uri="{FF2B5EF4-FFF2-40B4-BE49-F238E27FC236}">
                <a16:creationId xmlns:a16="http://schemas.microsoft.com/office/drawing/2014/main" id="{0A85C821-0D69-DB73-B4F2-AC8DCB7939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62" y="363449"/>
            <a:ext cx="2736878" cy="2736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266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fltVal val="0"/>
                                          </p:val>
                                        </p:tav>
                                        <p:tav tm="100000">
                                          <p:val>
                                            <p:strVal val="#ppt_w"/>
                                          </p:val>
                                        </p:tav>
                                      </p:tavLst>
                                    </p:anim>
                                    <p:anim calcmode="lin" valueType="num">
                                      <p:cBhvr>
                                        <p:cTn id="20" dur="500" fill="hold"/>
                                        <p:tgtEl>
                                          <p:spTgt spid="20"/>
                                        </p:tgtEl>
                                        <p:attrNameLst>
                                          <p:attrName>ppt_h</p:attrName>
                                        </p:attrNameLst>
                                      </p:cBhvr>
                                      <p:tavLst>
                                        <p:tav tm="0">
                                          <p:val>
                                            <p:fltVal val="0"/>
                                          </p:val>
                                        </p:tav>
                                        <p:tav tm="100000">
                                          <p:val>
                                            <p:strVal val="#ppt_h"/>
                                          </p:val>
                                        </p:tav>
                                      </p:tavLst>
                                    </p:anim>
                                    <p:animEffect transition="in" filter="fade">
                                      <p:cBhvr>
                                        <p:cTn id="21" dur="500"/>
                                        <p:tgtEl>
                                          <p:spTgt spid="20"/>
                                        </p:tgtEl>
                                      </p:cBhvr>
                                    </p:animEffect>
                                  </p:childTnLst>
                                </p:cTn>
                              </p:par>
                              <p:par>
                                <p:cTn id="22" presetID="53" presetClass="entr" presetSubtype="16"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par>
                                <p:cTn id="27" presetID="53" presetClass="entr" presetSubtype="16"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53" presetClass="entr" presetSubtype="16"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par>
                                <p:cTn id="42" presetID="53" presetClass="entr" presetSubtype="16"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 calcmode="lin" valueType="num">
                                      <p:cBhvr>
                                        <p:cTn id="44" dur="500" fill="hold"/>
                                        <p:tgtEl>
                                          <p:spTgt spid="26"/>
                                        </p:tgtEl>
                                        <p:attrNameLst>
                                          <p:attrName>ppt_w</p:attrName>
                                        </p:attrNameLst>
                                      </p:cBhvr>
                                      <p:tavLst>
                                        <p:tav tm="0">
                                          <p:val>
                                            <p:fltVal val="0"/>
                                          </p:val>
                                        </p:tav>
                                        <p:tav tm="100000">
                                          <p:val>
                                            <p:strVal val="#ppt_w"/>
                                          </p:val>
                                        </p:tav>
                                      </p:tavLst>
                                    </p:anim>
                                    <p:anim calcmode="lin" valueType="num">
                                      <p:cBhvr>
                                        <p:cTn id="45" dur="500" fill="hold"/>
                                        <p:tgtEl>
                                          <p:spTgt spid="26"/>
                                        </p:tgtEl>
                                        <p:attrNameLst>
                                          <p:attrName>ppt_h</p:attrName>
                                        </p:attrNameLst>
                                      </p:cBhvr>
                                      <p:tavLst>
                                        <p:tav tm="0">
                                          <p:val>
                                            <p:fltVal val="0"/>
                                          </p:val>
                                        </p:tav>
                                        <p:tav tm="100000">
                                          <p:val>
                                            <p:strVal val="#ppt_h"/>
                                          </p:val>
                                        </p:tav>
                                      </p:tavLst>
                                    </p:anim>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dirty="0">
                <a:solidFill>
                  <a:schemeClr val="bg1"/>
                </a:solidFill>
              </a:rPr>
              <a:t>Key Tasks</a:t>
            </a:r>
            <a:endParaRPr lang="en-US" sz="2700" dirty="0">
              <a:solidFill>
                <a:schemeClr val="bg1"/>
              </a:solidFill>
            </a:endParaRPr>
          </a:p>
        </p:txBody>
      </p:sp>
      <p:sp>
        <p:nvSpPr>
          <p:cNvPr id="3" name="TextBox 2">
            <a:extLst>
              <a:ext uri="{FF2B5EF4-FFF2-40B4-BE49-F238E27FC236}">
                <a16:creationId xmlns:a16="http://schemas.microsoft.com/office/drawing/2014/main" id="{92225D05-83BA-DA69-E3D8-D8C86B2C9EAE}"/>
              </a:ext>
            </a:extLst>
          </p:cNvPr>
          <p:cNvSpPr txBox="1"/>
          <p:nvPr/>
        </p:nvSpPr>
        <p:spPr>
          <a:xfrm>
            <a:off x="1143000" y="2782220"/>
            <a:ext cx="16306800" cy="6617196"/>
          </a:xfrm>
          <a:prstGeom prst="rect">
            <a:avLst/>
          </a:prstGeom>
          <a:noFill/>
        </p:spPr>
        <p:txBody>
          <a:bodyPr wrap="square" rtlCol="0">
            <a:spAutoFit/>
          </a:bodyPr>
          <a:lstStyle/>
          <a:p>
            <a:pPr marL="457200" indent="-457200">
              <a:buFont typeface="Arial" panose="020B0604020202020204" pitchFamily="34" charset="0"/>
              <a:buChar char="•"/>
            </a:pPr>
            <a:endParaRPr lang="ar-EG" sz="3200" b="0" i="0" dirty="0">
              <a:solidFill>
                <a:srgbClr val="0B0B0B"/>
              </a:solidFill>
              <a:effectLst/>
              <a:latin typeface="anthropic-sans"/>
            </a:endParaRPr>
          </a:p>
          <a:p>
            <a:pPr marL="514350" indent="-514350">
              <a:buFont typeface="+mj-lt"/>
              <a:buAutoNum type="arabicPeriod"/>
            </a:pPr>
            <a:r>
              <a:rPr lang="en-US" sz="2800" b="0" i="0" dirty="0">
                <a:solidFill>
                  <a:srgbClr val="0B0B0B"/>
                </a:solidFill>
                <a:effectLst/>
                <a:latin typeface="anthropic-sans"/>
              </a:rPr>
              <a:t>Design the banking database </a:t>
            </a:r>
            <a:r>
              <a:rPr lang="en-US" sz="2800" b="0" i="0" dirty="0" err="1">
                <a:solidFill>
                  <a:srgbClr val="0B0B0B"/>
                </a:solidFill>
                <a:effectLst/>
                <a:latin typeface="anthropic-sans"/>
              </a:rPr>
              <a:t>schema</a:t>
            </a:r>
            <a:r>
              <a:rPr lang="en-US" sz="2800" b="0" i="0" dirty="0" err="1">
                <a:solidFill>
                  <a:srgbClr val="52514E"/>
                </a:solidFill>
                <a:effectLst/>
                <a:latin typeface="anthropic-sans"/>
              </a:rPr>
              <a:t>Designed</a:t>
            </a:r>
            <a:r>
              <a:rPr lang="en-US" sz="2800" b="0" i="0" dirty="0">
                <a:solidFill>
                  <a:srgbClr val="52514E"/>
                </a:solidFill>
                <a:effectLst/>
                <a:latin typeface="anthropic-sans"/>
              </a:rPr>
              <a:t> a relational schema in MariaDB with 3 related tables (Customer, Usage, Offers), defined primary/foreign keys to maintain referential integrity, and loaded the generated CSV datasets into MariaDB.</a:t>
            </a:r>
            <a:endParaRPr lang="ar-EG" sz="2800" dirty="0">
              <a:solidFill>
                <a:srgbClr val="0B0B0B"/>
              </a:solidFill>
              <a:latin typeface="anthropic-sans"/>
            </a:endParaRPr>
          </a:p>
          <a:p>
            <a:pPr marL="514350" indent="-514350">
              <a:buFont typeface="+mj-lt"/>
              <a:buAutoNum type="arabicPeriod"/>
            </a:pPr>
            <a:r>
              <a:rPr lang="en-US" sz="2800" b="0" i="0" dirty="0">
                <a:solidFill>
                  <a:srgbClr val="0B0B0B"/>
                </a:solidFill>
                <a:effectLst/>
                <a:latin typeface="anthropic-sans"/>
              </a:rPr>
              <a:t>Ingest data into HDFS from two </a:t>
            </a:r>
            <a:r>
              <a:rPr lang="en-US" sz="2800" b="0" i="0" dirty="0" err="1">
                <a:solidFill>
                  <a:srgbClr val="0B0B0B"/>
                </a:solidFill>
                <a:effectLst/>
                <a:latin typeface="anthropic-sans"/>
              </a:rPr>
              <a:t>sources</a:t>
            </a:r>
            <a:r>
              <a:rPr lang="en-US" sz="2800" b="0" i="0" dirty="0" err="1">
                <a:solidFill>
                  <a:srgbClr val="52514E"/>
                </a:solidFill>
                <a:effectLst/>
                <a:latin typeface="anthropic-sans"/>
              </a:rPr>
              <a:t>Used</a:t>
            </a:r>
            <a:r>
              <a:rPr lang="en-US" sz="2800" b="0" i="0" dirty="0">
                <a:solidFill>
                  <a:srgbClr val="52514E"/>
                </a:solidFill>
                <a:effectLst/>
                <a:latin typeface="anthropic-sans"/>
              </a:rPr>
              <a:t> Apache Sqoop to bulk-ingest the structured MariaDB tables into HDFS, and Apache </a:t>
            </a:r>
            <a:r>
              <a:rPr lang="en-US" sz="2800" b="0" i="0" dirty="0" err="1">
                <a:solidFill>
                  <a:srgbClr val="52514E"/>
                </a:solidFill>
                <a:effectLst/>
                <a:latin typeface="anthropic-sans"/>
              </a:rPr>
              <a:t>NiFi</a:t>
            </a:r>
            <a:r>
              <a:rPr lang="en-US" sz="2800" b="0" i="0" dirty="0">
                <a:solidFill>
                  <a:srgbClr val="52514E"/>
                </a:solidFill>
                <a:effectLst/>
                <a:latin typeface="anthropic-sans"/>
              </a:rPr>
              <a:t> to ingest the standalone CSV files, converting them to Parquet before landing them in HDFS.</a:t>
            </a:r>
            <a:endParaRPr lang="ar-EG" sz="2800" b="0" i="0" dirty="0">
              <a:solidFill>
                <a:srgbClr val="0B0B0B"/>
              </a:solidFill>
              <a:effectLst/>
              <a:latin typeface="anthropic-sans"/>
            </a:endParaRPr>
          </a:p>
          <a:p>
            <a:pPr marL="514350" indent="-514350">
              <a:buFont typeface="+mj-lt"/>
              <a:buAutoNum type="arabicPeriod"/>
            </a:pPr>
            <a:r>
              <a:rPr lang="en-US" sz="2800" b="0" i="0" dirty="0">
                <a:solidFill>
                  <a:srgbClr val="0B0B0B"/>
                </a:solidFill>
                <a:effectLst/>
                <a:latin typeface="anthropic-sans"/>
              </a:rPr>
              <a:t>Handle missing values based on business </a:t>
            </a:r>
            <a:r>
              <a:rPr lang="en-US" sz="2800" b="0" i="0" dirty="0" err="1">
                <a:solidFill>
                  <a:srgbClr val="0B0B0B"/>
                </a:solidFill>
                <a:effectLst/>
                <a:latin typeface="anthropic-sans"/>
              </a:rPr>
              <a:t>logic</a:t>
            </a:r>
            <a:r>
              <a:rPr lang="en-US" sz="2800" b="0" i="0" dirty="0" err="1">
                <a:solidFill>
                  <a:srgbClr val="52514E"/>
                </a:solidFill>
                <a:effectLst/>
                <a:latin typeface="anthropic-sans"/>
              </a:rPr>
              <a:t>Instead</a:t>
            </a:r>
            <a:r>
              <a:rPr lang="en-US" sz="2800" b="0" i="0" dirty="0">
                <a:solidFill>
                  <a:srgbClr val="52514E"/>
                </a:solidFill>
                <a:effectLst/>
                <a:latin typeface="anthropic-sans"/>
              </a:rPr>
              <a:t> of dropping or blindly filling nulls, applied business-aware rules with </a:t>
            </a:r>
            <a:r>
              <a:rPr lang="en-US" sz="2800" b="0" i="0" dirty="0" err="1">
                <a:solidFill>
                  <a:srgbClr val="52514E"/>
                </a:solidFill>
                <a:effectLst/>
                <a:latin typeface="anthropic-sans"/>
              </a:rPr>
              <a:t>PySpark</a:t>
            </a:r>
            <a:r>
              <a:rPr lang="en-US" sz="2800" b="0" i="0" dirty="0">
                <a:solidFill>
                  <a:srgbClr val="52514E"/>
                </a:solidFill>
                <a:effectLst/>
                <a:latin typeface="anthropic-sans"/>
              </a:rPr>
              <a:t> — example a missing ticket resolution time was treated as "still open" rather than an error and left as null</a:t>
            </a:r>
          </a:p>
          <a:p>
            <a:pPr marL="514350" indent="-514350">
              <a:buFont typeface="+mj-lt"/>
              <a:buAutoNum type="arabicPeriod"/>
            </a:pPr>
            <a:r>
              <a:rPr lang="en-US" sz="2800" b="0" i="0" dirty="0">
                <a:solidFill>
                  <a:srgbClr val="0B0B0B"/>
                </a:solidFill>
                <a:effectLst/>
                <a:latin typeface="anthropic-sans"/>
              </a:rPr>
              <a:t>Clean illogical / invalid values </a:t>
            </a:r>
            <a:r>
              <a:rPr lang="en-US" sz="2800" b="0" i="0" dirty="0">
                <a:solidFill>
                  <a:srgbClr val="52514E"/>
                </a:solidFill>
                <a:effectLst/>
                <a:latin typeface="anthropic-sans"/>
              </a:rPr>
              <a:t>Identified and corrected categorical values that didn't make business sense — inconsistent spellings and casing and out-of-range or contradictory entries — standardizing each column to a single consistent set of valid values.</a:t>
            </a:r>
          </a:p>
          <a:p>
            <a:pPr marL="514350" indent="-514350">
              <a:buFont typeface="+mj-lt"/>
              <a:buAutoNum type="arabicPeriod"/>
            </a:pPr>
            <a:endParaRPr lang="en-US" sz="2800" b="0" i="0" dirty="0">
              <a:solidFill>
                <a:srgbClr val="52514E"/>
              </a:solidFill>
              <a:effectLst/>
              <a:latin typeface="anthropic-sans"/>
            </a:endParaRPr>
          </a:p>
          <a:p>
            <a:pPr marL="514350" indent="-514350">
              <a:buFont typeface="+mj-lt"/>
              <a:buAutoNum type="arabicPeriod"/>
            </a:pPr>
            <a:endParaRPr lang="en-US" sz="2800" b="0" i="0" dirty="0">
              <a:solidFill>
                <a:srgbClr val="0B0B0B"/>
              </a:solidFill>
              <a:effectLst/>
              <a:latin typeface="anthropic-sans"/>
            </a:endParaRPr>
          </a:p>
        </p:txBody>
      </p:sp>
      <p:pic>
        <p:nvPicPr>
          <p:cNvPr id="1026" name="Picture 2">
            <a:extLst>
              <a:ext uri="{FF2B5EF4-FFF2-40B4-BE49-F238E27FC236}">
                <a16:creationId xmlns:a16="http://schemas.microsoft.com/office/drawing/2014/main" id="{4C3AE08D-4AF3-907D-1DA9-D6859B37674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2220" y="1481784"/>
            <a:ext cx="2086180" cy="127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3501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dirty="0">
                <a:solidFill>
                  <a:schemeClr val="bg1"/>
                </a:solidFill>
              </a:rPr>
              <a:t>Key Tasks</a:t>
            </a:r>
            <a:endParaRPr lang="en-US" sz="2700" dirty="0">
              <a:solidFill>
                <a:schemeClr val="bg1"/>
              </a:solidFill>
            </a:endParaRPr>
          </a:p>
        </p:txBody>
      </p:sp>
      <p:sp>
        <p:nvSpPr>
          <p:cNvPr id="3" name="TextBox 2">
            <a:extLst>
              <a:ext uri="{FF2B5EF4-FFF2-40B4-BE49-F238E27FC236}">
                <a16:creationId xmlns:a16="http://schemas.microsoft.com/office/drawing/2014/main" id="{92225D05-83BA-DA69-E3D8-D8C86B2C9EAE}"/>
              </a:ext>
            </a:extLst>
          </p:cNvPr>
          <p:cNvSpPr txBox="1"/>
          <p:nvPr/>
        </p:nvSpPr>
        <p:spPr>
          <a:xfrm>
            <a:off x="1143000" y="3238500"/>
            <a:ext cx="14020800" cy="5262979"/>
          </a:xfrm>
          <a:prstGeom prst="rect">
            <a:avLst/>
          </a:prstGeom>
          <a:noFill/>
        </p:spPr>
        <p:txBody>
          <a:bodyPr wrap="square" rtlCol="0">
            <a:spAutoFit/>
          </a:bodyPr>
          <a:lstStyle/>
          <a:p>
            <a:pPr marL="514350" indent="-514350">
              <a:buFont typeface="+mj-lt"/>
              <a:buAutoNum type="arabicPeriod" startAt="5"/>
            </a:pPr>
            <a:r>
              <a:rPr lang="en-US" sz="2800" b="0" i="0" dirty="0">
                <a:solidFill>
                  <a:srgbClr val="0B0B0B"/>
                </a:solidFill>
                <a:effectLst/>
                <a:latin typeface="anthropic-sans"/>
              </a:rPr>
              <a:t>Standardize date formats </a:t>
            </a:r>
            <a:r>
              <a:rPr lang="en-US" sz="2800" b="0" i="0" dirty="0">
                <a:solidFill>
                  <a:srgbClr val="52514E"/>
                </a:solidFill>
                <a:effectLst/>
                <a:latin typeface="anthropic-sans"/>
              </a:rPr>
              <a:t>Unified inconsistent date formats across all four tables (some stored as </a:t>
            </a:r>
            <a:r>
              <a:rPr lang="en-US" sz="2800" b="0" i="0" dirty="0" err="1">
                <a:solidFill>
                  <a:srgbClr val="52514E"/>
                </a:solidFill>
                <a:effectLst/>
                <a:latin typeface="anthropic-sans"/>
              </a:rPr>
              <a:t>yyyy</a:t>
            </a:r>
            <a:r>
              <a:rPr lang="en-US" sz="2800" b="0" i="0" dirty="0">
                <a:solidFill>
                  <a:srgbClr val="52514E"/>
                </a:solidFill>
                <a:effectLst/>
                <a:latin typeface="anthropic-sans"/>
              </a:rPr>
              <a:t>-MM-dd, others as </a:t>
            </a:r>
            <a:r>
              <a:rPr lang="en-US" sz="2800" b="0" i="0" dirty="0" err="1">
                <a:solidFill>
                  <a:srgbClr val="52514E"/>
                </a:solidFill>
                <a:effectLst/>
                <a:latin typeface="anthropic-sans"/>
              </a:rPr>
              <a:t>yyyy</a:t>
            </a:r>
            <a:r>
              <a:rPr lang="en-US" sz="2800" b="0" i="0" dirty="0">
                <a:solidFill>
                  <a:srgbClr val="52514E"/>
                </a:solidFill>
                <a:effectLst/>
                <a:latin typeface="anthropic-sans"/>
              </a:rPr>
              <a:t>/MM/dd) into a single consistent date type, enabling reliable time-based joins and analysis.</a:t>
            </a:r>
            <a:endParaRPr lang="en-US" sz="2800" dirty="0">
              <a:solidFill>
                <a:srgbClr val="52514E"/>
              </a:solidFill>
              <a:latin typeface="anthropic-sans"/>
            </a:endParaRPr>
          </a:p>
          <a:p>
            <a:pPr marL="514350" indent="-514350">
              <a:buFont typeface="+mj-lt"/>
              <a:buAutoNum type="arabicPeriod" startAt="5"/>
            </a:pPr>
            <a:r>
              <a:rPr lang="en-US" sz="2800" b="0" i="0" dirty="0">
                <a:solidFill>
                  <a:srgbClr val="0B0B0B"/>
                </a:solidFill>
                <a:effectLst/>
                <a:latin typeface="anthropic-sans"/>
              </a:rPr>
              <a:t>Design the dimensional data warehouse </a:t>
            </a:r>
            <a:r>
              <a:rPr lang="en-US" sz="2800" b="0" i="0" dirty="0">
                <a:solidFill>
                  <a:srgbClr val="52514E"/>
                </a:solidFill>
                <a:effectLst/>
                <a:latin typeface="anthropic-sans"/>
              </a:rPr>
              <a:t>Modeled a star schema with </a:t>
            </a:r>
            <a:r>
              <a:rPr lang="en-US" sz="2800" b="0" i="0" dirty="0" err="1">
                <a:solidFill>
                  <a:srgbClr val="52514E"/>
                </a:solidFill>
                <a:effectLst/>
                <a:latin typeface="anthropic-sans"/>
              </a:rPr>
              <a:t>Fact_Customer_Monthly_Activity</a:t>
            </a:r>
            <a:r>
              <a:rPr lang="en-US" sz="2800" b="0" i="0" dirty="0">
                <a:solidFill>
                  <a:srgbClr val="52514E"/>
                </a:solidFill>
                <a:effectLst/>
                <a:latin typeface="anthropic-sans"/>
              </a:rPr>
              <a:t> as the central fact table (grain: one row per customer per month), connected to </a:t>
            </a:r>
            <a:r>
              <a:rPr lang="en-US" sz="2800" b="0" i="0" dirty="0" err="1">
                <a:solidFill>
                  <a:srgbClr val="52514E"/>
                </a:solidFill>
                <a:effectLst/>
                <a:latin typeface="anthropic-sans"/>
              </a:rPr>
              <a:t>Dim_Customer</a:t>
            </a:r>
            <a:r>
              <a:rPr lang="en-US" sz="2800" b="0" i="0" dirty="0">
                <a:solidFill>
                  <a:srgbClr val="52514E"/>
                </a:solidFill>
                <a:effectLst/>
                <a:latin typeface="anthropic-sans"/>
              </a:rPr>
              <a:t> and </a:t>
            </a:r>
            <a:r>
              <a:rPr lang="en-US" sz="2800" b="0" i="0" dirty="0" err="1">
                <a:solidFill>
                  <a:srgbClr val="52514E"/>
                </a:solidFill>
                <a:effectLst/>
                <a:latin typeface="anthropic-sans"/>
              </a:rPr>
              <a:t>Dim_Date</a:t>
            </a:r>
            <a:r>
              <a:rPr lang="en-US" sz="2800" b="0" i="0" dirty="0">
                <a:solidFill>
                  <a:srgbClr val="52514E"/>
                </a:solidFill>
                <a:effectLst/>
                <a:latin typeface="anthropic-sans"/>
              </a:rPr>
              <a:t> dimensions.</a:t>
            </a:r>
          </a:p>
          <a:p>
            <a:pPr marL="514350" indent="-514350">
              <a:buFont typeface="+mj-lt"/>
              <a:buAutoNum type="arabicPeriod" startAt="5"/>
            </a:pPr>
            <a:r>
              <a:rPr lang="en-US" sz="2800" b="0" i="0" dirty="0">
                <a:solidFill>
                  <a:srgbClr val="0B0B0B"/>
                </a:solidFill>
                <a:effectLst/>
                <a:latin typeface="anthropic-sans"/>
              </a:rPr>
              <a:t>Build Hive tables and query via Hue </a:t>
            </a:r>
            <a:r>
              <a:rPr lang="en-US" sz="2800" b="0" i="0" dirty="0">
                <a:solidFill>
                  <a:srgbClr val="52514E"/>
                </a:solidFill>
                <a:effectLst/>
                <a:latin typeface="anthropic-sans"/>
              </a:rPr>
              <a:t>Built the Hive DDLs on top of the cleaned/aggregated Spark output, making the warehouse </a:t>
            </a:r>
            <a:r>
              <a:rPr lang="en-US" sz="2800" b="0" i="0" dirty="0" err="1">
                <a:solidFill>
                  <a:srgbClr val="52514E"/>
                </a:solidFill>
                <a:effectLst/>
                <a:latin typeface="anthropic-sans"/>
              </a:rPr>
              <a:t>queryable</a:t>
            </a:r>
            <a:r>
              <a:rPr lang="en-US" sz="2800" b="0" i="0" dirty="0">
                <a:solidFill>
                  <a:srgbClr val="52514E"/>
                </a:solidFill>
                <a:effectLst/>
                <a:latin typeface="anthropic-sans"/>
              </a:rPr>
              <a:t> through Hue for both the BI layer and downstream analysis</a:t>
            </a:r>
          </a:p>
          <a:p>
            <a:pPr marL="514350" indent="-514350">
              <a:buFont typeface="+mj-lt"/>
              <a:buAutoNum type="arabicPeriod" startAt="5"/>
            </a:pPr>
            <a:r>
              <a:rPr lang="en-US" sz="2800" b="0" i="0" dirty="0">
                <a:solidFill>
                  <a:srgbClr val="0B0B0B"/>
                </a:solidFill>
                <a:effectLst/>
                <a:latin typeface="anthropic-sans"/>
              </a:rPr>
              <a:t>Build the BI dashboard and ML </a:t>
            </a:r>
            <a:r>
              <a:rPr lang="en-US" sz="2800" b="0" i="0" dirty="0" err="1">
                <a:solidFill>
                  <a:srgbClr val="0B0B0B"/>
                </a:solidFill>
                <a:effectLst/>
                <a:latin typeface="anthropic-sans"/>
              </a:rPr>
              <a:t>model</a:t>
            </a:r>
            <a:r>
              <a:rPr lang="en-US" sz="2800" b="0" i="0" dirty="0" err="1">
                <a:solidFill>
                  <a:srgbClr val="52514E"/>
                </a:solidFill>
                <a:effectLst/>
                <a:latin typeface="anthropic-sans"/>
              </a:rPr>
              <a:t>Used</a:t>
            </a:r>
            <a:r>
              <a:rPr lang="en-US" sz="2800" b="0" i="0" dirty="0">
                <a:solidFill>
                  <a:srgbClr val="52514E"/>
                </a:solidFill>
                <a:effectLst/>
                <a:latin typeface="anthropic-sans"/>
              </a:rPr>
              <a:t> the curated warehouse tables to power a BI dashboard for reporting, and trained an ML model on the engineered features to predict/cluster customer churn.</a:t>
            </a:r>
            <a:endParaRPr lang="ar-EG" sz="2800" b="0" i="0" dirty="0">
              <a:solidFill>
                <a:srgbClr val="0B0B0B"/>
              </a:solidFill>
              <a:effectLst/>
              <a:latin typeface="anthropic-sans"/>
            </a:endParaRPr>
          </a:p>
        </p:txBody>
      </p:sp>
      <p:pic>
        <p:nvPicPr>
          <p:cNvPr id="4" name="Picture 2">
            <a:extLst>
              <a:ext uri="{FF2B5EF4-FFF2-40B4-BE49-F238E27FC236}">
                <a16:creationId xmlns:a16="http://schemas.microsoft.com/office/drawing/2014/main" id="{271EFEA5-7D0D-F7D9-CBFD-9A2EC4D4B9C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2220" y="1481784"/>
            <a:ext cx="2086180" cy="127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755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rPr>
              <a:t>Agenda</a:t>
            </a:r>
            <a:endParaRPr sz="5000" b="1" dirty="0">
              <a:solidFill>
                <a:schemeClr val="lt1"/>
              </a:solidFill>
            </a:endParaRPr>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Team</a:t>
              </a:r>
              <a:endParaRPr sz="2700" dirty="0">
                <a:solidFill>
                  <a:schemeClr val="bg1">
                    <a:lumMod val="50000"/>
                  </a:schemeClr>
                </a:solidFill>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5" name="Google Shape;59;p3">
            <a:extLst>
              <a:ext uri="{FF2B5EF4-FFF2-40B4-BE49-F238E27FC236}">
                <a16:creationId xmlns:a16="http://schemas.microsoft.com/office/drawing/2014/main" id="{3C8824F9-5ABC-4EFF-668A-50A202A3809F}"/>
              </a:ext>
            </a:extLst>
          </p:cNvPr>
          <p:cNvGrpSpPr/>
          <p:nvPr/>
        </p:nvGrpSpPr>
        <p:grpSpPr>
          <a:xfrm>
            <a:off x="2819400" y="5448300"/>
            <a:ext cx="8553420" cy="417167"/>
            <a:chOff x="571500" y="5165783"/>
            <a:chExt cx="5702280" cy="278111"/>
          </a:xfrm>
        </p:grpSpPr>
        <p:sp>
          <p:nvSpPr>
            <p:cNvPr id="6" name="Google Shape;60;p3">
              <a:extLst>
                <a:ext uri="{FF2B5EF4-FFF2-40B4-BE49-F238E27FC236}">
                  <a16:creationId xmlns:a16="http://schemas.microsoft.com/office/drawing/2014/main" id="{110235D1-3508-1C69-D303-3222F55949D0}"/>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endParaRPr>
            </a:p>
          </p:txBody>
        </p:sp>
        <p:sp>
          <p:nvSpPr>
            <p:cNvPr id="7" name="Google Shape;61;p3">
              <a:extLst>
                <a:ext uri="{FF2B5EF4-FFF2-40B4-BE49-F238E27FC236}">
                  <a16:creationId xmlns:a16="http://schemas.microsoft.com/office/drawing/2014/main" id="{E6458DC3-59A4-0EBF-A289-048FA7A60A77}"/>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8" name="Google Shape;59;p3">
            <a:extLst>
              <a:ext uri="{FF2B5EF4-FFF2-40B4-BE49-F238E27FC236}">
                <a16:creationId xmlns:a16="http://schemas.microsoft.com/office/drawing/2014/main" id="{0E83B93D-FB8E-813F-FBA1-1E0AA2590DF9}"/>
              </a:ext>
            </a:extLst>
          </p:cNvPr>
          <p:cNvGrpSpPr/>
          <p:nvPr/>
        </p:nvGrpSpPr>
        <p:grpSpPr>
          <a:xfrm>
            <a:off x="2838827" y="6691517"/>
            <a:ext cx="8553420" cy="417186"/>
            <a:chOff x="571500" y="5165783"/>
            <a:chExt cx="5702280" cy="278124"/>
          </a:xfrm>
        </p:grpSpPr>
        <p:sp>
          <p:nvSpPr>
            <p:cNvPr id="9" name="Google Shape;60;p3">
              <a:extLst>
                <a:ext uri="{FF2B5EF4-FFF2-40B4-BE49-F238E27FC236}">
                  <a16:creationId xmlns:a16="http://schemas.microsoft.com/office/drawing/2014/main" id="{FDE556D7-EC6D-1D09-60BA-1733684DF161}"/>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b="1" dirty="0"/>
                <a:t>Results and Insights</a:t>
              </a:r>
            </a:p>
          </p:txBody>
        </p:sp>
        <p:sp>
          <p:nvSpPr>
            <p:cNvPr id="10" name="Google Shape;61;p3">
              <a:extLst>
                <a:ext uri="{FF2B5EF4-FFF2-40B4-BE49-F238E27FC236}">
                  <a16:creationId xmlns:a16="http://schemas.microsoft.com/office/drawing/2014/main" id="{6277DDF3-91B1-AA00-1386-A1A6AE3E8793}"/>
                </a:ext>
              </a:extLst>
            </p:cNvPr>
            <p:cNvSpPr/>
            <p:nvPr/>
          </p:nvSpPr>
          <p:spPr>
            <a:xfrm>
              <a:off x="571500" y="5165783"/>
              <a:ext cx="36000" cy="252000"/>
            </a:xfrm>
            <a:prstGeom prst="rect">
              <a:avLst/>
            </a:prstGeom>
            <a:solidFill>
              <a:srgbClr val="193EB0"/>
            </a:solidFill>
            <a:ln>
              <a:solidFill>
                <a:srgbClr val="193EB0"/>
              </a:solidFill>
            </a:ln>
          </p:spPr>
          <p:txBody>
            <a:bodyPr spcFirstLastPara="1" wrap="square" lIns="137138" tIns="68550" rIns="137138" bIns="68550" anchor="ctr" anchorCtr="0">
              <a:noAutofit/>
            </a:bodyPr>
            <a:lstStyle/>
            <a:p>
              <a:pPr algn="ctr"/>
              <a:endParaRPr sz="4200" dirty="0">
                <a:solidFill>
                  <a:schemeClr val="lt1"/>
                </a:solidFill>
                <a:latin typeface="Calibri"/>
                <a:ea typeface="Calibri"/>
                <a:cs typeface="Calibri"/>
                <a:sym typeface="Calibri"/>
              </a:endParaRPr>
            </a:p>
          </p:txBody>
        </p:sp>
      </p:grpSp>
      <p:grpSp>
        <p:nvGrpSpPr>
          <p:cNvPr id="11" name="Google Shape;59;p3">
            <a:extLst>
              <a:ext uri="{FF2B5EF4-FFF2-40B4-BE49-F238E27FC236}">
                <a16:creationId xmlns:a16="http://schemas.microsoft.com/office/drawing/2014/main" id="{3CA8EB46-EC47-6EAB-45AB-35AABA7AD741}"/>
              </a:ext>
            </a:extLst>
          </p:cNvPr>
          <p:cNvGrpSpPr/>
          <p:nvPr/>
        </p:nvGrpSpPr>
        <p:grpSpPr>
          <a:xfrm>
            <a:off x="2838827" y="7283645"/>
            <a:ext cx="8553420" cy="417183"/>
            <a:chOff x="571500" y="5165783"/>
            <a:chExt cx="5702280" cy="278122"/>
          </a:xfrm>
        </p:grpSpPr>
        <p:sp>
          <p:nvSpPr>
            <p:cNvPr id="12" name="Google Shape;60;p3">
              <a:extLst>
                <a:ext uri="{FF2B5EF4-FFF2-40B4-BE49-F238E27FC236}">
                  <a16:creationId xmlns:a16="http://schemas.microsoft.com/office/drawing/2014/main" id="{2231DFCB-7FA7-1BBF-5F08-CDF456B44596}"/>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endParaRPr>
            </a:p>
          </p:txBody>
        </p:sp>
        <p:sp>
          <p:nvSpPr>
            <p:cNvPr id="13" name="Google Shape;61;p3">
              <a:extLst>
                <a:ext uri="{FF2B5EF4-FFF2-40B4-BE49-F238E27FC236}">
                  <a16:creationId xmlns:a16="http://schemas.microsoft.com/office/drawing/2014/main" id="{5EF8DC89-3F49-24B6-3A27-FDD5D5F053DC}"/>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4" name="Google Shape;59;p3">
            <a:extLst>
              <a:ext uri="{FF2B5EF4-FFF2-40B4-BE49-F238E27FC236}">
                <a16:creationId xmlns:a16="http://schemas.microsoft.com/office/drawing/2014/main" id="{A19A8D05-497D-B04B-F2FA-1D1B5594F206}"/>
              </a:ext>
            </a:extLst>
          </p:cNvPr>
          <p:cNvGrpSpPr/>
          <p:nvPr/>
        </p:nvGrpSpPr>
        <p:grpSpPr>
          <a:xfrm>
            <a:off x="2838827" y="7879169"/>
            <a:ext cx="8553420" cy="417185"/>
            <a:chOff x="571500" y="5165783"/>
            <a:chExt cx="5702280" cy="278123"/>
          </a:xfrm>
        </p:grpSpPr>
        <p:sp>
          <p:nvSpPr>
            <p:cNvPr id="15" name="Google Shape;60;p3">
              <a:extLst>
                <a:ext uri="{FF2B5EF4-FFF2-40B4-BE49-F238E27FC236}">
                  <a16:creationId xmlns:a16="http://schemas.microsoft.com/office/drawing/2014/main" id="{AD80F6BE-9137-46A3-7D4B-B3F6D935D845}"/>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a:solidFill>
                  <a:schemeClr val="tx1">
                    <a:lumMod val="50000"/>
                    <a:lumOff val="50000"/>
                  </a:schemeClr>
                </a:solidFill>
              </a:endParaRPr>
            </a:p>
          </p:txBody>
        </p:sp>
        <p:sp>
          <p:nvSpPr>
            <p:cNvPr id="16" name="Google Shape;61;p3">
              <a:extLst>
                <a:ext uri="{FF2B5EF4-FFF2-40B4-BE49-F238E27FC236}">
                  <a16:creationId xmlns:a16="http://schemas.microsoft.com/office/drawing/2014/main" id="{349DEBB7-FAA1-C511-4D90-C55FABEDE3E8}"/>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0" name="Google Shape;56;p3">
            <a:extLst>
              <a:ext uri="{FF2B5EF4-FFF2-40B4-BE49-F238E27FC236}">
                <a16:creationId xmlns:a16="http://schemas.microsoft.com/office/drawing/2014/main" id="{F008D7E0-5724-D67D-06AA-9C1725D5BFDC}"/>
              </a:ext>
            </a:extLst>
          </p:cNvPr>
          <p:cNvGrpSpPr/>
          <p:nvPr/>
        </p:nvGrpSpPr>
        <p:grpSpPr>
          <a:xfrm>
            <a:off x="2819400" y="6057900"/>
            <a:ext cx="8553420" cy="417186"/>
            <a:chOff x="571500" y="5165783"/>
            <a:chExt cx="5702280" cy="278124"/>
          </a:xfrm>
        </p:grpSpPr>
        <p:sp>
          <p:nvSpPr>
            <p:cNvPr id="21" name="Google Shape;57;p3">
              <a:extLst>
                <a:ext uri="{FF2B5EF4-FFF2-40B4-BE49-F238E27FC236}">
                  <a16:creationId xmlns:a16="http://schemas.microsoft.com/office/drawing/2014/main" id="{91F47DB6-1F13-BCA9-1F4A-C0BE191FBDAC}"/>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dirty="0">
                  <a:solidFill>
                    <a:srgbClr val="7F7F7F"/>
                  </a:solidFill>
                  <a:latin typeface="Arial" panose="020B0604020202020204" pitchFamily="34" charset="0"/>
                  <a:cs typeface="Arial" panose="020B0604020202020204" pitchFamily="34" charset="0"/>
                </a:rPr>
                <a:t>Key Tasks</a:t>
              </a:r>
            </a:p>
          </p:txBody>
        </p:sp>
        <p:sp>
          <p:nvSpPr>
            <p:cNvPr id="22" name="Google Shape;58;p3">
              <a:extLst>
                <a:ext uri="{FF2B5EF4-FFF2-40B4-BE49-F238E27FC236}">
                  <a16:creationId xmlns:a16="http://schemas.microsoft.com/office/drawing/2014/main" id="{6A8D02FD-47C3-273C-A1A4-117CD8F6C287}"/>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rgbClr val="A6A6A6"/>
                </a:solidFill>
                <a:latin typeface="Calibri"/>
                <a:ea typeface="Calibri"/>
                <a:cs typeface="Calibri"/>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Problem Statement</a:t>
              </a:r>
              <a:endParaRPr lang="en-US" sz="3600" dirty="0">
                <a:solidFill>
                  <a:schemeClr val="bg1">
                    <a:lumMod val="50000"/>
                  </a:schemeClr>
                </a:solidFill>
              </a:endParaRPr>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pic>
        <p:nvPicPr>
          <p:cNvPr id="23" name="Picture 4">
            <a:extLst>
              <a:ext uri="{FF2B5EF4-FFF2-40B4-BE49-F238E27FC236}">
                <a16:creationId xmlns:a16="http://schemas.microsoft.com/office/drawing/2014/main" id="{0A85C821-0D69-DB73-B4F2-AC8DCB7939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62" y="363449"/>
            <a:ext cx="2736878" cy="2736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142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fltVal val="0"/>
                                          </p:val>
                                        </p:tav>
                                        <p:tav tm="100000">
                                          <p:val>
                                            <p:strVal val="#ppt_w"/>
                                          </p:val>
                                        </p:tav>
                                      </p:tavLst>
                                    </p:anim>
                                    <p:anim calcmode="lin" valueType="num">
                                      <p:cBhvr>
                                        <p:cTn id="20" dur="500" fill="hold"/>
                                        <p:tgtEl>
                                          <p:spTgt spid="20"/>
                                        </p:tgtEl>
                                        <p:attrNameLst>
                                          <p:attrName>ppt_h</p:attrName>
                                        </p:attrNameLst>
                                      </p:cBhvr>
                                      <p:tavLst>
                                        <p:tav tm="0">
                                          <p:val>
                                            <p:fltVal val="0"/>
                                          </p:val>
                                        </p:tav>
                                        <p:tav tm="100000">
                                          <p:val>
                                            <p:strVal val="#ppt_h"/>
                                          </p:val>
                                        </p:tav>
                                      </p:tavLst>
                                    </p:anim>
                                    <p:animEffect transition="in" filter="fade">
                                      <p:cBhvr>
                                        <p:cTn id="21" dur="500"/>
                                        <p:tgtEl>
                                          <p:spTgt spid="20"/>
                                        </p:tgtEl>
                                      </p:cBhvr>
                                    </p:animEffect>
                                  </p:childTnLst>
                                </p:cTn>
                              </p:par>
                              <p:par>
                                <p:cTn id="22" presetID="53" presetClass="entr" presetSubtype="16"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par>
                                <p:cTn id="27" presetID="53" presetClass="entr" presetSubtype="16"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53" presetClass="entr" presetSubtype="16"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par>
                                <p:cTn id="42" presetID="53" presetClass="entr" presetSubtype="16"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 calcmode="lin" valueType="num">
                                      <p:cBhvr>
                                        <p:cTn id="44" dur="500" fill="hold"/>
                                        <p:tgtEl>
                                          <p:spTgt spid="26"/>
                                        </p:tgtEl>
                                        <p:attrNameLst>
                                          <p:attrName>ppt_w</p:attrName>
                                        </p:attrNameLst>
                                      </p:cBhvr>
                                      <p:tavLst>
                                        <p:tav tm="0">
                                          <p:val>
                                            <p:fltVal val="0"/>
                                          </p:val>
                                        </p:tav>
                                        <p:tav tm="100000">
                                          <p:val>
                                            <p:strVal val="#ppt_w"/>
                                          </p:val>
                                        </p:tav>
                                      </p:tavLst>
                                    </p:anim>
                                    <p:anim calcmode="lin" valueType="num">
                                      <p:cBhvr>
                                        <p:cTn id="45" dur="500" fill="hold"/>
                                        <p:tgtEl>
                                          <p:spTgt spid="26"/>
                                        </p:tgtEl>
                                        <p:attrNameLst>
                                          <p:attrName>ppt_h</p:attrName>
                                        </p:attrNameLst>
                                      </p:cBhvr>
                                      <p:tavLst>
                                        <p:tav tm="0">
                                          <p:val>
                                            <p:fltVal val="0"/>
                                          </p:val>
                                        </p:tav>
                                        <p:tav tm="100000">
                                          <p:val>
                                            <p:strVal val="#ppt_h"/>
                                          </p:val>
                                        </p:tav>
                                      </p:tavLst>
                                    </p:anim>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b="1" dirty="0">
                <a:solidFill>
                  <a:schemeClr val="bg1"/>
                </a:solidFill>
              </a:rPr>
              <a:t>Results and Insights</a:t>
            </a:r>
          </a:p>
        </p:txBody>
      </p:sp>
      <p:sp>
        <p:nvSpPr>
          <p:cNvPr id="3" name="TextBox 2">
            <a:extLst>
              <a:ext uri="{FF2B5EF4-FFF2-40B4-BE49-F238E27FC236}">
                <a16:creationId xmlns:a16="http://schemas.microsoft.com/office/drawing/2014/main" id="{92225D05-83BA-DA69-E3D8-D8C86B2C9EAE}"/>
              </a:ext>
            </a:extLst>
          </p:cNvPr>
          <p:cNvSpPr txBox="1"/>
          <p:nvPr/>
        </p:nvSpPr>
        <p:spPr>
          <a:xfrm>
            <a:off x="1143000" y="3238501"/>
            <a:ext cx="5257800" cy="1692771"/>
          </a:xfrm>
          <a:prstGeom prst="rect">
            <a:avLst/>
          </a:prstGeom>
          <a:noFill/>
        </p:spPr>
        <p:txBody>
          <a:bodyPr wrap="square" rtlCol="0">
            <a:spAutoFit/>
          </a:bodyPr>
          <a:lstStyle/>
          <a:p>
            <a:pPr marL="457200" indent="-457200">
              <a:buFont typeface="Arial" panose="020B0604020202020204" pitchFamily="34" charset="0"/>
              <a:buChar char="•"/>
            </a:pPr>
            <a:r>
              <a:rPr lang="en-US" sz="4000" b="1" i="0" dirty="0">
                <a:solidFill>
                  <a:srgbClr val="0B0B0B"/>
                </a:solidFill>
                <a:effectLst/>
                <a:latin typeface="anthropic-sans"/>
              </a:rPr>
              <a:t>Business Questions :</a:t>
            </a:r>
          </a:p>
          <a:p>
            <a:endParaRPr lang="en-US" sz="3200" b="1" i="0" dirty="0">
              <a:solidFill>
                <a:srgbClr val="0B0B0B"/>
              </a:solidFill>
              <a:effectLst/>
              <a:latin typeface="anthropic-sans"/>
            </a:endParaRPr>
          </a:p>
          <a:p>
            <a:endParaRPr lang="ar-EG" sz="3200" b="1" i="0" dirty="0">
              <a:solidFill>
                <a:srgbClr val="0B0B0B"/>
              </a:solidFill>
              <a:effectLst/>
              <a:latin typeface="anthropic-sans"/>
            </a:endParaRPr>
          </a:p>
        </p:txBody>
      </p:sp>
      <p:pic>
        <p:nvPicPr>
          <p:cNvPr id="3074" name="Picture 2" descr="Insight - Free business and finance icons">
            <a:extLst>
              <a:ext uri="{FF2B5EF4-FFF2-40B4-BE49-F238E27FC236}">
                <a16:creationId xmlns:a16="http://schemas.microsoft.com/office/drawing/2014/main" id="{85931C0A-CD5A-929E-D485-9AFF337CDB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843797"/>
            <a:ext cx="1781383" cy="17813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0F6F6C9-4585-1E58-BA75-347C79A178D6}"/>
              </a:ext>
            </a:extLst>
          </p:cNvPr>
          <p:cNvSpPr txBox="1"/>
          <p:nvPr/>
        </p:nvSpPr>
        <p:spPr>
          <a:xfrm>
            <a:off x="1600200" y="4122391"/>
            <a:ext cx="15544800" cy="3539430"/>
          </a:xfrm>
          <a:prstGeom prst="rect">
            <a:avLst/>
          </a:prstGeom>
          <a:noFill/>
        </p:spPr>
        <p:txBody>
          <a:bodyPr wrap="square" rtlCol="0">
            <a:spAutoFit/>
          </a:bodyPr>
          <a:lstStyle/>
          <a:p>
            <a:pPr marL="514350" indent="-514350">
              <a:buFont typeface="+mj-lt"/>
              <a:buAutoNum type="arabicPeriod"/>
            </a:pPr>
            <a:r>
              <a:rPr lang="en-US" sz="3200" b="1" dirty="0"/>
              <a:t>What customer behaviors are linked to higher churn?</a:t>
            </a:r>
            <a:endParaRPr lang="ar-EG" sz="3200" b="1" dirty="0"/>
          </a:p>
          <a:p>
            <a:pPr marL="514350" indent="-514350">
              <a:buFont typeface="+mj-lt"/>
              <a:buAutoNum type="arabicPeriod"/>
            </a:pPr>
            <a:endParaRPr lang="ar-EG" sz="3200" b="1" dirty="0"/>
          </a:p>
          <a:p>
            <a:pPr marL="514350" indent="-514350">
              <a:buFont typeface="+mj-lt"/>
              <a:buAutoNum type="arabicPeriod"/>
            </a:pPr>
            <a:r>
              <a:rPr lang="en-US" sz="3200" b="1" dirty="0"/>
              <a:t>Does customer support experience affect churn?</a:t>
            </a:r>
            <a:endParaRPr lang="ar-EG" sz="3200" b="1" dirty="0"/>
          </a:p>
          <a:p>
            <a:pPr marL="514350" indent="-514350">
              <a:buFont typeface="+mj-lt"/>
              <a:buAutoNum type="arabicPeriod"/>
            </a:pPr>
            <a:endParaRPr lang="ar-EG" sz="3200" b="1" dirty="0"/>
          </a:p>
          <a:p>
            <a:pPr marL="514350" indent="-514350">
              <a:buFont typeface="+mj-lt"/>
              <a:buAutoNum type="arabicPeriod"/>
            </a:pPr>
            <a:r>
              <a:rPr lang="en-US" sz="3200" b="1" dirty="0"/>
              <a:t>Are customers who engage more with offers less likely to churn?</a:t>
            </a:r>
            <a:endParaRPr lang="ar-EG" sz="3200" b="1" dirty="0"/>
          </a:p>
          <a:p>
            <a:pPr marL="514350" indent="-514350">
              <a:buFont typeface="+mj-lt"/>
              <a:buAutoNum type="arabicPeriod"/>
            </a:pPr>
            <a:endParaRPr lang="ar-EG" sz="3200" b="1" dirty="0"/>
          </a:p>
          <a:p>
            <a:pPr marL="514350" indent="-514350">
              <a:buFont typeface="+mj-lt"/>
              <a:buAutoNum type="arabicPeriod"/>
            </a:pPr>
            <a:r>
              <a:rPr lang="en-US" sz="3200" b="1" dirty="0"/>
              <a:t>Which customers have higher business value, and how does their churn rate compare?</a:t>
            </a:r>
            <a:endParaRPr lang="en-US" sz="3200" dirty="0"/>
          </a:p>
        </p:txBody>
      </p:sp>
    </p:spTree>
    <p:extLst>
      <p:ext uri="{BB962C8B-B14F-4D97-AF65-F5344CB8AC3E}">
        <p14:creationId xmlns:p14="http://schemas.microsoft.com/office/powerpoint/2010/main" val="2015266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b="1" dirty="0">
                <a:solidFill>
                  <a:schemeClr val="bg1"/>
                </a:solidFill>
              </a:rPr>
              <a:t>Results and Insights</a:t>
            </a:r>
          </a:p>
        </p:txBody>
      </p:sp>
      <p:sp>
        <p:nvSpPr>
          <p:cNvPr id="3" name="TextBox 2">
            <a:extLst>
              <a:ext uri="{FF2B5EF4-FFF2-40B4-BE49-F238E27FC236}">
                <a16:creationId xmlns:a16="http://schemas.microsoft.com/office/drawing/2014/main" id="{92225D05-83BA-DA69-E3D8-D8C86B2C9EAE}"/>
              </a:ext>
            </a:extLst>
          </p:cNvPr>
          <p:cNvSpPr txBox="1"/>
          <p:nvPr/>
        </p:nvSpPr>
        <p:spPr>
          <a:xfrm>
            <a:off x="1143000" y="3238501"/>
            <a:ext cx="5257800" cy="1692771"/>
          </a:xfrm>
          <a:prstGeom prst="rect">
            <a:avLst/>
          </a:prstGeom>
          <a:noFill/>
        </p:spPr>
        <p:txBody>
          <a:bodyPr wrap="square" rtlCol="0">
            <a:spAutoFit/>
          </a:bodyPr>
          <a:lstStyle/>
          <a:p>
            <a:pPr marL="457200" indent="-457200">
              <a:buFont typeface="Arial" panose="020B0604020202020204" pitchFamily="34" charset="0"/>
              <a:buChar char="•"/>
            </a:pPr>
            <a:r>
              <a:rPr lang="en-US" sz="4000" b="1" i="0" dirty="0">
                <a:solidFill>
                  <a:srgbClr val="0B0B0B"/>
                </a:solidFill>
                <a:effectLst/>
                <a:latin typeface="anthropic-sans"/>
              </a:rPr>
              <a:t>Business Questions :</a:t>
            </a:r>
          </a:p>
          <a:p>
            <a:endParaRPr lang="en-US" sz="3200" b="1" i="0" dirty="0">
              <a:solidFill>
                <a:srgbClr val="0B0B0B"/>
              </a:solidFill>
              <a:effectLst/>
              <a:latin typeface="anthropic-sans"/>
            </a:endParaRPr>
          </a:p>
          <a:p>
            <a:endParaRPr lang="ar-EG" sz="3200" b="1" i="0" dirty="0">
              <a:solidFill>
                <a:srgbClr val="0B0B0B"/>
              </a:solidFill>
              <a:effectLst/>
              <a:latin typeface="anthropic-sans"/>
            </a:endParaRPr>
          </a:p>
        </p:txBody>
      </p:sp>
      <p:pic>
        <p:nvPicPr>
          <p:cNvPr id="3074" name="Picture 2" descr="Insight - Free business and finance icons">
            <a:extLst>
              <a:ext uri="{FF2B5EF4-FFF2-40B4-BE49-F238E27FC236}">
                <a16:creationId xmlns:a16="http://schemas.microsoft.com/office/drawing/2014/main" id="{85931C0A-CD5A-929E-D485-9AFF337CDB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843797"/>
            <a:ext cx="1781383" cy="17813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0F6F6C9-4585-1E58-BA75-347C79A178D6}"/>
              </a:ext>
            </a:extLst>
          </p:cNvPr>
          <p:cNvSpPr txBox="1"/>
          <p:nvPr/>
        </p:nvSpPr>
        <p:spPr>
          <a:xfrm>
            <a:off x="1600200" y="4122391"/>
            <a:ext cx="15544800" cy="4770537"/>
          </a:xfrm>
          <a:prstGeom prst="rect">
            <a:avLst/>
          </a:prstGeom>
          <a:noFill/>
        </p:spPr>
        <p:txBody>
          <a:bodyPr wrap="square" rtlCol="0">
            <a:spAutoFit/>
          </a:bodyPr>
          <a:lstStyle/>
          <a:p>
            <a:pPr marL="514350" indent="-514350">
              <a:buFont typeface="+mj-lt"/>
              <a:buAutoNum type="arabicPeriod"/>
            </a:pPr>
            <a:r>
              <a:rPr lang="en-US" sz="3200" b="1" dirty="0"/>
              <a:t>What customer behaviors are linked to higher churn? </a:t>
            </a:r>
            <a:r>
              <a:rPr lang="en-US" sz="2800" dirty="0"/>
              <a:t>Churned and non-churned customers show similar behavioral patterns, so these factors alone are not strong evidence of churn.</a:t>
            </a:r>
          </a:p>
          <a:p>
            <a:pPr marL="514350" indent="-514350">
              <a:buFont typeface="+mj-lt"/>
              <a:buAutoNum type="arabicPeriod"/>
            </a:pPr>
            <a:r>
              <a:rPr lang="en-US" sz="3200" b="1" dirty="0"/>
              <a:t>Does customer support experience affect churn? </a:t>
            </a:r>
            <a:r>
              <a:rPr lang="en-US" sz="2800" dirty="0"/>
              <a:t>Medium support friction has the highest churn rate, while high friction does not show the highest churn in this dataset</a:t>
            </a:r>
          </a:p>
          <a:p>
            <a:pPr marL="514350" indent="-514350">
              <a:buFont typeface="+mj-lt"/>
              <a:buAutoNum type="arabicPeriod"/>
            </a:pPr>
            <a:r>
              <a:rPr lang="en-US" sz="3200" b="1" dirty="0"/>
              <a:t>Are customers who engage more with offers less likely to churn? </a:t>
            </a:r>
            <a:r>
              <a:rPr lang="en-US" sz="2800" dirty="0"/>
              <a:t>Customers with high offer acceptance have the lowest churn rate, suggesting an association between offer engagement and better retention</a:t>
            </a:r>
          </a:p>
          <a:p>
            <a:pPr marL="514350" indent="-514350">
              <a:buFont typeface="+mj-lt"/>
              <a:buAutoNum type="arabicPeriod"/>
            </a:pPr>
            <a:r>
              <a:rPr lang="en-US" sz="3200" b="1" dirty="0"/>
              <a:t>Which customers have higher business value, and how does their churn rate compare?</a:t>
            </a:r>
            <a:r>
              <a:rPr lang="en-US" sz="3200" dirty="0"/>
              <a:t> </a:t>
            </a:r>
            <a:r>
              <a:rPr lang="en-US" sz="2800" dirty="0"/>
              <a:t>Higher-value customers show lower churn rates, but the High Value group contains only 4 customers, so this result should be interpreted cautiously</a:t>
            </a:r>
            <a:endParaRPr lang="en-US" sz="3200" b="1" dirty="0"/>
          </a:p>
        </p:txBody>
      </p:sp>
    </p:spTree>
    <p:extLst>
      <p:ext uri="{BB962C8B-B14F-4D97-AF65-F5344CB8AC3E}">
        <p14:creationId xmlns:p14="http://schemas.microsoft.com/office/powerpoint/2010/main" val="660060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667000" y="1460331"/>
            <a:ext cx="10512900" cy="1015663"/>
          </a:xfrm>
          <a:prstGeom prst="rect">
            <a:avLst/>
          </a:prstGeom>
          <a:noFill/>
          <a:ln>
            <a:noFill/>
          </a:ln>
        </p:spPr>
        <p:txBody>
          <a:bodyPr spcFirstLastPara="1" wrap="square" lIns="0" tIns="0" rIns="0" bIns="0" anchor="t" anchorCtr="0">
            <a:spAutoFit/>
          </a:bodyPr>
          <a:lstStyle/>
          <a:p>
            <a:r>
              <a:rPr lang="en-US" sz="6600" b="1" dirty="0">
                <a:solidFill>
                  <a:schemeClr val="bg1"/>
                </a:solidFill>
              </a:rPr>
              <a:t>Dashboard</a:t>
            </a:r>
          </a:p>
        </p:txBody>
      </p:sp>
      <p:pic>
        <p:nvPicPr>
          <p:cNvPr id="1026" name="Picture 2">
            <a:extLst>
              <a:ext uri="{FF2B5EF4-FFF2-40B4-BE49-F238E27FC236}">
                <a16:creationId xmlns:a16="http://schemas.microsoft.com/office/drawing/2014/main" id="{5C19D25E-9C25-FBD6-D3A6-295864ACE73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0768" y="1460331"/>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E9584B6-6E93-DF53-7BDC-FA5296F64E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3086100"/>
            <a:ext cx="15621000" cy="6398334"/>
          </a:xfrm>
          <a:prstGeom prst="rect">
            <a:avLst/>
          </a:prstGeom>
        </p:spPr>
      </p:pic>
    </p:spTree>
    <p:extLst>
      <p:ext uri="{BB962C8B-B14F-4D97-AF65-F5344CB8AC3E}">
        <p14:creationId xmlns:p14="http://schemas.microsoft.com/office/powerpoint/2010/main" val="3818994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b="1" dirty="0">
                <a:solidFill>
                  <a:schemeClr val="bg1"/>
                </a:solidFill>
              </a:rPr>
              <a:t>ML Model</a:t>
            </a:r>
          </a:p>
        </p:txBody>
      </p:sp>
      <p:pic>
        <p:nvPicPr>
          <p:cNvPr id="2050" name="Picture 2" descr="Machine learning - Free electronics icons">
            <a:extLst>
              <a:ext uri="{FF2B5EF4-FFF2-40B4-BE49-F238E27FC236}">
                <a16:creationId xmlns:a16="http://schemas.microsoft.com/office/drawing/2014/main" id="{A62096D3-9340-E804-0E71-3BF72B9234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333500"/>
            <a:ext cx="1546339" cy="154633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6D097617-F22C-2FF8-1268-867BDB9FF4AD}"/>
              </a:ext>
            </a:extLst>
          </p:cNvPr>
          <p:cNvPicPr>
            <a:picLocks noChangeAspect="1"/>
          </p:cNvPicPr>
          <p:nvPr/>
        </p:nvPicPr>
        <p:blipFill>
          <a:blip r:embed="rId3"/>
          <a:stretch>
            <a:fillRect/>
          </a:stretch>
        </p:blipFill>
        <p:spPr>
          <a:xfrm>
            <a:off x="4174320" y="3543300"/>
            <a:ext cx="7041060" cy="5672948"/>
          </a:xfrm>
          <a:prstGeom prst="rect">
            <a:avLst/>
          </a:prstGeom>
        </p:spPr>
      </p:pic>
      <p:sp>
        <p:nvSpPr>
          <p:cNvPr id="12" name="TextBox 11">
            <a:extLst>
              <a:ext uri="{FF2B5EF4-FFF2-40B4-BE49-F238E27FC236}">
                <a16:creationId xmlns:a16="http://schemas.microsoft.com/office/drawing/2014/main" id="{CD5FEB99-33EB-42E3-F464-655D7734B08D}"/>
              </a:ext>
            </a:extLst>
          </p:cNvPr>
          <p:cNvSpPr txBox="1"/>
          <p:nvPr/>
        </p:nvSpPr>
        <p:spPr>
          <a:xfrm>
            <a:off x="690716" y="3314700"/>
            <a:ext cx="2873261" cy="707886"/>
          </a:xfrm>
          <a:prstGeom prst="rect">
            <a:avLst/>
          </a:prstGeom>
          <a:noFill/>
        </p:spPr>
        <p:txBody>
          <a:bodyPr wrap="square" rtlCol="0">
            <a:spAutoFit/>
          </a:bodyPr>
          <a:lstStyle/>
          <a:p>
            <a:r>
              <a:rPr lang="en-US" sz="4000" b="1" dirty="0"/>
              <a:t>ML Pipeline</a:t>
            </a:r>
          </a:p>
        </p:txBody>
      </p:sp>
    </p:spTree>
    <p:extLst>
      <p:ext uri="{BB962C8B-B14F-4D97-AF65-F5344CB8AC3E}">
        <p14:creationId xmlns:p14="http://schemas.microsoft.com/office/powerpoint/2010/main" val="2825717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b="1" dirty="0">
                <a:solidFill>
                  <a:schemeClr val="bg1"/>
                </a:solidFill>
              </a:rPr>
              <a:t>Model Comparison</a:t>
            </a:r>
          </a:p>
        </p:txBody>
      </p:sp>
      <p:pic>
        <p:nvPicPr>
          <p:cNvPr id="2050" name="Picture 2" descr="Machine learning - Free electronics icons">
            <a:extLst>
              <a:ext uri="{FF2B5EF4-FFF2-40B4-BE49-F238E27FC236}">
                <a16:creationId xmlns:a16="http://schemas.microsoft.com/office/drawing/2014/main" id="{A62096D3-9340-E804-0E71-3BF72B9234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333500"/>
            <a:ext cx="1546339" cy="154633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4D5F775-DC7B-7C77-43E3-365F6A4FEE6A}"/>
              </a:ext>
            </a:extLst>
          </p:cNvPr>
          <p:cNvPicPr>
            <a:picLocks noChangeAspect="1"/>
          </p:cNvPicPr>
          <p:nvPr/>
        </p:nvPicPr>
        <p:blipFill>
          <a:blip r:embed="rId3"/>
          <a:stretch>
            <a:fillRect/>
          </a:stretch>
        </p:blipFill>
        <p:spPr>
          <a:xfrm>
            <a:off x="3657600" y="3314700"/>
            <a:ext cx="10512900" cy="5928142"/>
          </a:xfrm>
          <a:prstGeom prst="rect">
            <a:avLst/>
          </a:prstGeom>
        </p:spPr>
      </p:pic>
    </p:spTree>
    <p:extLst>
      <p:ext uri="{BB962C8B-B14F-4D97-AF65-F5344CB8AC3E}">
        <p14:creationId xmlns:p14="http://schemas.microsoft.com/office/powerpoint/2010/main" val="1271584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b="1" dirty="0">
                <a:solidFill>
                  <a:schemeClr val="bg1"/>
                </a:solidFill>
              </a:rPr>
              <a:t>Model Accuracy</a:t>
            </a:r>
          </a:p>
        </p:txBody>
      </p:sp>
      <p:pic>
        <p:nvPicPr>
          <p:cNvPr id="2050" name="Picture 2" descr="Machine learning - Free electronics icons">
            <a:extLst>
              <a:ext uri="{FF2B5EF4-FFF2-40B4-BE49-F238E27FC236}">
                <a16:creationId xmlns:a16="http://schemas.microsoft.com/office/drawing/2014/main" id="{A62096D3-9340-E804-0E71-3BF72B9234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333500"/>
            <a:ext cx="1546339" cy="15463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2502725-609D-F450-2027-CFF16F7F1477}"/>
              </a:ext>
            </a:extLst>
          </p:cNvPr>
          <p:cNvPicPr>
            <a:picLocks noChangeAspect="1"/>
          </p:cNvPicPr>
          <p:nvPr/>
        </p:nvPicPr>
        <p:blipFill>
          <a:blip r:embed="rId3"/>
          <a:stretch>
            <a:fillRect/>
          </a:stretch>
        </p:blipFill>
        <p:spPr>
          <a:xfrm>
            <a:off x="4724400" y="3467100"/>
            <a:ext cx="7239000" cy="5738378"/>
          </a:xfrm>
          <a:prstGeom prst="rect">
            <a:avLst/>
          </a:prstGeom>
        </p:spPr>
      </p:pic>
    </p:spTree>
    <p:extLst>
      <p:ext uri="{BB962C8B-B14F-4D97-AF65-F5344CB8AC3E}">
        <p14:creationId xmlns:p14="http://schemas.microsoft.com/office/powerpoint/2010/main" val="11722572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b="1" dirty="0">
                <a:solidFill>
                  <a:schemeClr val="bg1"/>
                </a:solidFill>
              </a:rPr>
              <a:t>Confusion Matrix</a:t>
            </a:r>
          </a:p>
        </p:txBody>
      </p:sp>
      <p:pic>
        <p:nvPicPr>
          <p:cNvPr id="2050" name="Picture 2" descr="Machine learning - Free electronics icons">
            <a:extLst>
              <a:ext uri="{FF2B5EF4-FFF2-40B4-BE49-F238E27FC236}">
                <a16:creationId xmlns:a16="http://schemas.microsoft.com/office/drawing/2014/main" id="{A62096D3-9340-E804-0E71-3BF72B9234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333500"/>
            <a:ext cx="1546339" cy="154633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B936425-0FF7-A597-20C5-6D7DC60B950B}"/>
              </a:ext>
            </a:extLst>
          </p:cNvPr>
          <p:cNvPicPr>
            <a:picLocks noChangeAspect="1"/>
          </p:cNvPicPr>
          <p:nvPr/>
        </p:nvPicPr>
        <p:blipFill>
          <a:blip r:embed="rId3"/>
          <a:stretch>
            <a:fillRect/>
          </a:stretch>
        </p:blipFill>
        <p:spPr>
          <a:xfrm>
            <a:off x="5105400" y="3243449"/>
            <a:ext cx="7391400" cy="6319651"/>
          </a:xfrm>
          <a:prstGeom prst="rect">
            <a:avLst/>
          </a:prstGeom>
        </p:spPr>
      </p:pic>
    </p:spTree>
    <p:extLst>
      <p:ext uri="{BB962C8B-B14F-4D97-AF65-F5344CB8AC3E}">
        <p14:creationId xmlns:p14="http://schemas.microsoft.com/office/powerpoint/2010/main" val="5943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b="1" dirty="0">
                <a:solidFill>
                  <a:schemeClr val="bg1"/>
                </a:solidFill>
              </a:rPr>
              <a:t>Model Deploy</a:t>
            </a:r>
          </a:p>
        </p:txBody>
      </p:sp>
      <p:pic>
        <p:nvPicPr>
          <p:cNvPr id="2050" name="Picture 2" descr="Machine learning - Free electronics icons">
            <a:extLst>
              <a:ext uri="{FF2B5EF4-FFF2-40B4-BE49-F238E27FC236}">
                <a16:creationId xmlns:a16="http://schemas.microsoft.com/office/drawing/2014/main" id="{A62096D3-9340-E804-0E71-3BF72B9234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1333500"/>
            <a:ext cx="1546339" cy="154633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E47AD06-DDEE-BD67-6C57-369DACDDEDAD}"/>
              </a:ext>
            </a:extLst>
          </p:cNvPr>
          <p:cNvPicPr>
            <a:picLocks noChangeAspect="1"/>
          </p:cNvPicPr>
          <p:nvPr/>
        </p:nvPicPr>
        <p:blipFill>
          <a:blip r:embed="rId3"/>
          <a:stretch>
            <a:fillRect/>
          </a:stretch>
        </p:blipFill>
        <p:spPr>
          <a:xfrm>
            <a:off x="1839597" y="3162300"/>
            <a:ext cx="14608806" cy="6210838"/>
          </a:xfrm>
          <a:prstGeom prst="rect">
            <a:avLst/>
          </a:prstGeom>
        </p:spPr>
      </p:pic>
    </p:spTree>
    <p:extLst>
      <p:ext uri="{BB962C8B-B14F-4D97-AF65-F5344CB8AC3E}">
        <p14:creationId xmlns:p14="http://schemas.microsoft.com/office/powerpoint/2010/main" val="3200518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rPr>
              <a:t>Agenda</a:t>
            </a:r>
            <a:endParaRPr sz="5000" b="1" dirty="0">
              <a:solidFill>
                <a:schemeClr val="lt1"/>
              </a:solidFill>
            </a:endParaRPr>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Team</a:t>
              </a:r>
              <a:endParaRPr sz="2700" dirty="0">
                <a:solidFill>
                  <a:schemeClr val="bg1">
                    <a:lumMod val="50000"/>
                  </a:schemeClr>
                </a:solidFill>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5" name="Google Shape;59;p3">
            <a:extLst>
              <a:ext uri="{FF2B5EF4-FFF2-40B4-BE49-F238E27FC236}">
                <a16:creationId xmlns:a16="http://schemas.microsoft.com/office/drawing/2014/main" id="{3C8824F9-5ABC-4EFF-668A-50A202A3809F}"/>
              </a:ext>
            </a:extLst>
          </p:cNvPr>
          <p:cNvGrpSpPr/>
          <p:nvPr/>
        </p:nvGrpSpPr>
        <p:grpSpPr>
          <a:xfrm>
            <a:off x="2819400" y="5448300"/>
            <a:ext cx="8553420" cy="417167"/>
            <a:chOff x="571500" y="5165783"/>
            <a:chExt cx="5702280" cy="278111"/>
          </a:xfrm>
        </p:grpSpPr>
        <p:sp>
          <p:nvSpPr>
            <p:cNvPr id="6" name="Google Shape;60;p3">
              <a:extLst>
                <a:ext uri="{FF2B5EF4-FFF2-40B4-BE49-F238E27FC236}">
                  <a16:creationId xmlns:a16="http://schemas.microsoft.com/office/drawing/2014/main" id="{110235D1-3508-1C69-D303-3222F55949D0}"/>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endParaRPr>
            </a:p>
          </p:txBody>
        </p:sp>
        <p:sp>
          <p:nvSpPr>
            <p:cNvPr id="7" name="Google Shape;61;p3">
              <a:extLst>
                <a:ext uri="{FF2B5EF4-FFF2-40B4-BE49-F238E27FC236}">
                  <a16:creationId xmlns:a16="http://schemas.microsoft.com/office/drawing/2014/main" id="{E6458DC3-59A4-0EBF-A289-048FA7A60A77}"/>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8" name="Google Shape;59;p3">
            <a:extLst>
              <a:ext uri="{FF2B5EF4-FFF2-40B4-BE49-F238E27FC236}">
                <a16:creationId xmlns:a16="http://schemas.microsoft.com/office/drawing/2014/main" id="{0E83B93D-FB8E-813F-FBA1-1E0AA2590DF9}"/>
              </a:ext>
            </a:extLst>
          </p:cNvPr>
          <p:cNvGrpSpPr/>
          <p:nvPr/>
        </p:nvGrpSpPr>
        <p:grpSpPr>
          <a:xfrm>
            <a:off x="2838827" y="6691517"/>
            <a:ext cx="8553420" cy="417186"/>
            <a:chOff x="571500" y="5165783"/>
            <a:chExt cx="5702280" cy="278124"/>
          </a:xfrm>
        </p:grpSpPr>
        <p:sp>
          <p:nvSpPr>
            <p:cNvPr id="9" name="Google Shape;60;p3">
              <a:extLst>
                <a:ext uri="{FF2B5EF4-FFF2-40B4-BE49-F238E27FC236}">
                  <a16:creationId xmlns:a16="http://schemas.microsoft.com/office/drawing/2014/main" id="{FDE556D7-EC6D-1D09-60BA-1733684DF161}"/>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rPr>
                <a:t>Results and Insights</a:t>
              </a:r>
            </a:p>
          </p:txBody>
        </p:sp>
        <p:sp>
          <p:nvSpPr>
            <p:cNvPr id="10" name="Google Shape;61;p3">
              <a:extLst>
                <a:ext uri="{FF2B5EF4-FFF2-40B4-BE49-F238E27FC236}">
                  <a16:creationId xmlns:a16="http://schemas.microsoft.com/office/drawing/2014/main" id="{6277DDF3-91B1-AA00-1386-A1A6AE3E8793}"/>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chemeClr val="lt1"/>
                </a:solidFill>
                <a:latin typeface="Calibri"/>
                <a:ea typeface="Calibri"/>
                <a:cs typeface="Calibri"/>
                <a:sym typeface="Calibri"/>
              </a:endParaRPr>
            </a:p>
          </p:txBody>
        </p:sp>
      </p:grpSp>
      <p:grpSp>
        <p:nvGrpSpPr>
          <p:cNvPr id="11" name="Google Shape;59;p3">
            <a:extLst>
              <a:ext uri="{FF2B5EF4-FFF2-40B4-BE49-F238E27FC236}">
                <a16:creationId xmlns:a16="http://schemas.microsoft.com/office/drawing/2014/main" id="{3CA8EB46-EC47-6EAB-45AB-35AABA7AD741}"/>
              </a:ext>
            </a:extLst>
          </p:cNvPr>
          <p:cNvGrpSpPr/>
          <p:nvPr/>
        </p:nvGrpSpPr>
        <p:grpSpPr>
          <a:xfrm>
            <a:off x="2838827" y="7283645"/>
            <a:ext cx="8553420" cy="417183"/>
            <a:chOff x="571500" y="5165783"/>
            <a:chExt cx="5702280" cy="278122"/>
          </a:xfrm>
        </p:grpSpPr>
        <p:sp>
          <p:nvSpPr>
            <p:cNvPr id="12" name="Google Shape;60;p3">
              <a:extLst>
                <a:ext uri="{FF2B5EF4-FFF2-40B4-BE49-F238E27FC236}">
                  <a16:creationId xmlns:a16="http://schemas.microsoft.com/office/drawing/2014/main" id="{2231DFCB-7FA7-1BBF-5F08-CDF456B44596}"/>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ea typeface="Arial" panose="020B0604020202020204" pitchFamily="34" charset="0"/>
                  <a:cs typeface="Arial" panose="020B0604020202020204" pitchFamily="34" charset="0"/>
                </a:rPr>
                <a:t>Conclusion</a:t>
              </a:r>
              <a:endParaRPr lang="en-US" sz="3600" b="1" dirty="0"/>
            </a:p>
          </p:txBody>
        </p:sp>
        <p:sp>
          <p:nvSpPr>
            <p:cNvPr id="13" name="Google Shape;61;p3">
              <a:extLst>
                <a:ext uri="{FF2B5EF4-FFF2-40B4-BE49-F238E27FC236}">
                  <a16:creationId xmlns:a16="http://schemas.microsoft.com/office/drawing/2014/main" id="{5EF8DC89-3F49-24B6-3A27-FDD5D5F053DC}"/>
                </a:ext>
              </a:extLst>
            </p:cNvPr>
            <p:cNvSpPr/>
            <p:nvPr/>
          </p:nvSpPr>
          <p:spPr>
            <a:xfrm>
              <a:off x="571500" y="5165783"/>
              <a:ext cx="36000" cy="252000"/>
            </a:xfrm>
            <a:prstGeom prst="rect">
              <a:avLst/>
            </a:prstGeom>
            <a:solidFill>
              <a:srgbClr val="193EB0"/>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4" name="Google Shape;59;p3">
            <a:extLst>
              <a:ext uri="{FF2B5EF4-FFF2-40B4-BE49-F238E27FC236}">
                <a16:creationId xmlns:a16="http://schemas.microsoft.com/office/drawing/2014/main" id="{A19A8D05-497D-B04B-F2FA-1D1B5594F206}"/>
              </a:ext>
            </a:extLst>
          </p:cNvPr>
          <p:cNvGrpSpPr/>
          <p:nvPr/>
        </p:nvGrpSpPr>
        <p:grpSpPr>
          <a:xfrm>
            <a:off x="2838827" y="7879169"/>
            <a:ext cx="8553420" cy="417185"/>
            <a:chOff x="571500" y="5165783"/>
            <a:chExt cx="5702280" cy="278123"/>
          </a:xfrm>
        </p:grpSpPr>
        <p:sp>
          <p:nvSpPr>
            <p:cNvPr id="15" name="Google Shape;60;p3">
              <a:extLst>
                <a:ext uri="{FF2B5EF4-FFF2-40B4-BE49-F238E27FC236}">
                  <a16:creationId xmlns:a16="http://schemas.microsoft.com/office/drawing/2014/main" id="{AD80F6BE-9137-46A3-7D4B-B3F6D935D845}"/>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Q&amp;A</a:t>
              </a:r>
              <a:endParaRPr lang="en-US" sz="2700" dirty="0">
                <a:solidFill>
                  <a:schemeClr val="tx1">
                    <a:lumMod val="50000"/>
                    <a:lumOff val="50000"/>
                  </a:schemeClr>
                </a:solidFill>
              </a:endParaRPr>
            </a:p>
          </p:txBody>
        </p:sp>
        <p:sp>
          <p:nvSpPr>
            <p:cNvPr id="16" name="Google Shape;61;p3">
              <a:extLst>
                <a:ext uri="{FF2B5EF4-FFF2-40B4-BE49-F238E27FC236}">
                  <a16:creationId xmlns:a16="http://schemas.microsoft.com/office/drawing/2014/main" id="{349DEBB7-FAA1-C511-4D90-C55FABEDE3E8}"/>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0" name="Google Shape;56;p3">
            <a:extLst>
              <a:ext uri="{FF2B5EF4-FFF2-40B4-BE49-F238E27FC236}">
                <a16:creationId xmlns:a16="http://schemas.microsoft.com/office/drawing/2014/main" id="{F008D7E0-5724-D67D-06AA-9C1725D5BFDC}"/>
              </a:ext>
            </a:extLst>
          </p:cNvPr>
          <p:cNvGrpSpPr/>
          <p:nvPr/>
        </p:nvGrpSpPr>
        <p:grpSpPr>
          <a:xfrm>
            <a:off x="2819400" y="6057900"/>
            <a:ext cx="8553420" cy="417186"/>
            <a:chOff x="571500" y="5165783"/>
            <a:chExt cx="5702280" cy="278124"/>
          </a:xfrm>
        </p:grpSpPr>
        <p:sp>
          <p:nvSpPr>
            <p:cNvPr id="21" name="Google Shape;57;p3">
              <a:extLst>
                <a:ext uri="{FF2B5EF4-FFF2-40B4-BE49-F238E27FC236}">
                  <a16:creationId xmlns:a16="http://schemas.microsoft.com/office/drawing/2014/main" id="{91F47DB6-1F13-BCA9-1F4A-C0BE191FBDAC}"/>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dirty="0">
                  <a:solidFill>
                    <a:srgbClr val="7F7F7F"/>
                  </a:solidFill>
                  <a:latin typeface="Arial" panose="020B0604020202020204" pitchFamily="34" charset="0"/>
                  <a:cs typeface="Arial" panose="020B0604020202020204" pitchFamily="34" charset="0"/>
                </a:rPr>
                <a:t>Key Tasks</a:t>
              </a:r>
            </a:p>
          </p:txBody>
        </p:sp>
        <p:sp>
          <p:nvSpPr>
            <p:cNvPr id="22" name="Google Shape;58;p3">
              <a:extLst>
                <a:ext uri="{FF2B5EF4-FFF2-40B4-BE49-F238E27FC236}">
                  <a16:creationId xmlns:a16="http://schemas.microsoft.com/office/drawing/2014/main" id="{6A8D02FD-47C3-273C-A1A4-117CD8F6C287}"/>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rgbClr val="A6A6A6"/>
                </a:solidFill>
                <a:latin typeface="Calibri"/>
                <a:ea typeface="Calibri"/>
                <a:cs typeface="Calibri"/>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Problem Statement</a:t>
              </a:r>
              <a:endParaRPr lang="en-US" sz="3600" dirty="0">
                <a:solidFill>
                  <a:schemeClr val="bg1">
                    <a:lumMod val="50000"/>
                  </a:schemeClr>
                </a:solidFill>
              </a:endParaRPr>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pic>
        <p:nvPicPr>
          <p:cNvPr id="23" name="Picture 4">
            <a:extLst>
              <a:ext uri="{FF2B5EF4-FFF2-40B4-BE49-F238E27FC236}">
                <a16:creationId xmlns:a16="http://schemas.microsoft.com/office/drawing/2014/main" id="{0A85C821-0D69-DB73-B4F2-AC8DCB7939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62" y="363449"/>
            <a:ext cx="2736878" cy="2736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3171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fltVal val="0"/>
                                          </p:val>
                                        </p:tav>
                                        <p:tav tm="100000">
                                          <p:val>
                                            <p:strVal val="#ppt_w"/>
                                          </p:val>
                                        </p:tav>
                                      </p:tavLst>
                                    </p:anim>
                                    <p:anim calcmode="lin" valueType="num">
                                      <p:cBhvr>
                                        <p:cTn id="20" dur="500" fill="hold"/>
                                        <p:tgtEl>
                                          <p:spTgt spid="20"/>
                                        </p:tgtEl>
                                        <p:attrNameLst>
                                          <p:attrName>ppt_h</p:attrName>
                                        </p:attrNameLst>
                                      </p:cBhvr>
                                      <p:tavLst>
                                        <p:tav tm="0">
                                          <p:val>
                                            <p:fltVal val="0"/>
                                          </p:val>
                                        </p:tav>
                                        <p:tav tm="100000">
                                          <p:val>
                                            <p:strVal val="#ppt_h"/>
                                          </p:val>
                                        </p:tav>
                                      </p:tavLst>
                                    </p:anim>
                                    <p:animEffect transition="in" filter="fade">
                                      <p:cBhvr>
                                        <p:cTn id="21" dur="500"/>
                                        <p:tgtEl>
                                          <p:spTgt spid="20"/>
                                        </p:tgtEl>
                                      </p:cBhvr>
                                    </p:animEffect>
                                  </p:childTnLst>
                                </p:cTn>
                              </p:par>
                              <p:par>
                                <p:cTn id="22" presetID="53" presetClass="entr" presetSubtype="16"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par>
                                <p:cTn id="27" presetID="53" presetClass="entr" presetSubtype="16"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53" presetClass="entr" presetSubtype="16"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par>
                                <p:cTn id="42" presetID="53" presetClass="entr" presetSubtype="16"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 calcmode="lin" valueType="num">
                                      <p:cBhvr>
                                        <p:cTn id="44" dur="500" fill="hold"/>
                                        <p:tgtEl>
                                          <p:spTgt spid="26"/>
                                        </p:tgtEl>
                                        <p:attrNameLst>
                                          <p:attrName>ppt_w</p:attrName>
                                        </p:attrNameLst>
                                      </p:cBhvr>
                                      <p:tavLst>
                                        <p:tav tm="0">
                                          <p:val>
                                            <p:fltVal val="0"/>
                                          </p:val>
                                        </p:tav>
                                        <p:tav tm="100000">
                                          <p:val>
                                            <p:strVal val="#ppt_w"/>
                                          </p:val>
                                        </p:tav>
                                      </p:tavLst>
                                    </p:anim>
                                    <p:anim calcmode="lin" valueType="num">
                                      <p:cBhvr>
                                        <p:cTn id="45" dur="500" fill="hold"/>
                                        <p:tgtEl>
                                          <p:spTgt spid="26"/>
                                        </p:tgtEl>
                                        <p:attrNameLst>
                                          <p:attrName>ppt_h</p:attrName>
                                        </p:attrNameLst>
                                      </p:cBhvr>
                                      <p:tavLst>
                                        <p:tav tm="0">
                                          <p:val>
                                            <p:fltVal val="0"/>
                                          </p:val>
                                        </p:tav>
                                        <p:tav tm="100000">
                                          <p:val>
                                            <p:strVal val="#ppt_h"/>
                                          </p:val>
                                        </p:tav>
                                      </p:tavLst>
                                    </p:anim>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b="1" dirty="0">
                <a:solidFill>
                  <a:schemeClr val="bg1"/>
                </a:solidFill>
                <a:latin typeface="Arial" panose="020B0604020202020204" pitchFamily="34" charset="0"/>
                <a:ea typeface="Arial" panose="020B0604020202020204" pitchFamily="34" charset="0"/>
                <a:cs typeface="Arial" panose="020B0604020202020204" pitchFamily="34" charset="0"/>
              </a:rPr>
              <a:t>Conclusion</a:t>
            </a:r>
            <a:endParaRPr lang="en-US" sz="8000" b="1" dirty="0">
              <a:solidFill>
                <a:schemeClr val="bg1"/>
              </a:solidFill>
            </a:endParaRPr>
          </a:p>
        </p:txBody>
      </p:sp>
      <p:pic>
        <p:nvPicPr>
          <p:cNvPr id="1026" name="Picture 2">
            <a:extLst>
              <a:ext uri="{FF2B5EF4-FFF2-40B4-BE49-F238E27FC236}">
                <a16:creationId xmlns:a16="http://schemas.microsoft.com/office/drawing/2014/main" id="{E8D4EFDF-501F-7A3A-AC4D-A944EF1C778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985" t="-11202" r="-5985" b="11202"/>
          <a:stretch/>
        </p:blipFill>
        <p:spPr bwMode="auto">
          <a:xfrm>
            <a:off x="457200" y="1023255"/>
            <a:ext cx="1771627" cy="190858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EFD46E2-EDE3-18B0-75D9-B517A8E178A8}"/>
              </a:ext>
            </a:extLst>
          </p:cNvPr>
          <p:cNvSpPr txBox="1"/>
          <p:nvPr/>
        </p:nvSpPr>
        <p:spPr>
          <a:xfrm>
            <a:off x="990600" y="3467100"/>
            <a:ext cx="16611600" cy="3970318"/>
          </a:xfrm>
          <a:prstGeom prst="rect">
            <a:avLst/>
          </a:prstGeom>
          <a:noFill/>
        </p:spPr>
        <p:txBody>
          <a:bodyPr wrap="square" rtlCol="0">
            <a:spAutoFit/>
          </a:bodyPr>
          <a:lstStyle/>
          <a:p>
            <a:r>
              <a:rPr lang="en-US" sz="3600" b="1" dirty="0"/>
              <a:t>Customer churn remains a significant retention challenge, with 20.37% of customers having churned. The analysis shows that no single factor clearly explains churn. However, higher offer engagement is associated with lower churn, while support friction shows no simple direct relationship with churn. Higher-value customers also show lower churn rates, although this segment is very small. These findings can help the business improve retention by combining multiple customer signals, improving engagement, and prioritizing valuable customers.</a:t>
            </a:r>
          </a:p>
        </p:txBody>
      </p:sp>
    </p:spTree>
    <p:extLst>
      <p:ext uri="{BB962C8B-B14F-4D97-AF65-F5344CB8AC3E}">
        <p14:creationId xmlns:p14="http://schemas.microsoft.com/office/powerpoint/2010/main" val="1871758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3"/>
          <p:cNvSpPr/>
          <p:nvPr/>
        </p:nvSpPr>
        <p:spPr>
          <a:xfrm>
            <a:off x="2555082" y="1393442"/>
            <a:ext cx="7433550" cy="769441"/>
          </a:xfrm>
          <a:prstGeom prst="rect">
            <a:avLst/>
          </a:prstGeom>
          <a:noFill/>
          <a:ln>
            <a:noFill/>
          </a:ln>
        </p:spPr>
        <p:txBody>
          <a:bodyPr spcFirstLastPara="1" wrap="square" lIns="0" tIns="0" rIns="0" bIns="0" anchor="t" anchorCtr="0">
            <a:spAutoFit/>
          </a:bodyPr>
          <a:lstStyle/>
          <a:p>
            <a:r>
              <a:rPr lang="en-US" sz="5000" b="1" dirty="0">
                <a:solidFill>
                  <a:schemeClr val="lt1"/>
                </a:solidFill>
              </a:rPr>
              <a:t>Agenda</a:t>
            </a:r>
            <a:endParaRPr sz="5000" b="1" dirty="0">
              <a:solidFill>
                <a:schemeClr val="lt1"/>
              </a:solidFill>
            </a:endParaRPr>
          </a:p>
        </p:txBody>
      </p:sp>
      <p:grpSp>
        <p:nvGrpSpPr>
          <p:cNvPr id="2" name="Google Shape;50;p3">
            <a:extLst>
              <a:ext uri="{FF2B5EF4-FFF2-40B4-BE49-F238E27FC236}">
                <a16:creationId xmlns:a16="http://schemas.microsoft.com/office/drawing/2014/main" id="{E2B5B782-5B12-44EC-DE2B-CFD7C0363A0A}"/>
              </a:ext>
            </a:extLst>
          </p:cNvPr>
          <p:cNvGrpSpPr/>
          <p:nvPr/>
        </p:nvGrpSpPr>
        <p:grpSpPr>
          <a:xfrm>
            <a:off x="2838827" y="3720831"/>
            <a:ext cx="8553420" cy="417183"/>
            <a:chOff x="571500" y="2336175"/>
            <a:chExt cx="5702280" cy="278122"/>
          </a:xfrm>
        </p:grpSpPr>
        <p:sp>
          <p:nvSpPr>
            <p:cNvPr id="3" name="Google Shape;51;p3">
              <a:extLst>
                <a:ext uri="{FF2B5EF4-FFF2-40B4-BE49-F238E27FC236}">
                  <a16:creationId xmlns:a16="http://schemas.microsoft.com/office/drawing/2014/main" id="{EC9CBDC3-46C4-05CD-6DD5-372C3499F721}"/>
                </a:ext>
              </a:extLst>
            </p:cNvPr>
            <p:cNvSpPr/>
            <p:nvPr/>
          </p:nvSpPr>
          <p:spPr>
            <a:xfrm>
              <a:off x="754380" y="2337298"/>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Team</a:t>
              </a:r>
              <a:endParaRPr sz="2700" dirty="0">
                <a:solidFill>
                  <a:schemeClr val="bg1">
                    <a:lumMod val="50000"/>
                  </a:schemeClr>
                </a:solidFill>
                <a:latin typeface="Arial" panose="020B0604020202020204" pitchFamily="34" charset="0"/>
                <a:cs typeface="Arial" panose="020B0604020202020204" pitchFamily="34" charset="0"/>
              </a:endParaRPr>
            </a:p>
          </p:txBody>
        </p:sp>
        <p:sp>
          <p:nvSpPr>
            <p:cNvPr id="4" name="Google Shape;52;p3">
              <a:extLst>
                <a:ext uri="{FF2B5EF4-FFF2-40B4-BE49-F238E27FC236}">
                  <a16:creationId xmlns:a16="http://schemas.microsoft.com/office/drawing/2014/main" id="{C7838699-C280-E980-B759-2787620C175A}"/>
                </a:ext>
              </a:extLst>
            </p:cNvPr>
            <p:cNvSpPr/>
            <p:nvPr/>
          </p:nvSpPr>
          <p:spPr>
            <a:xfrm>
              <a:off x="571500" y="2336175"/>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5" name="Google Shape;59;p3">
            <a:extLst>
              <a:ext uri="{FF2B5EF4-FFF2-40B4-BE49-F238E27FC236}">
                <a16:creationId xmlns:a16="http://schemas.microsoft.com/office/drawing/2014/main" id="{3C8824F9-5ABC-4EFF-668A-50A202A3809F}"/>
              </a:ext>
            </a:extLst>
          </p:cNvPr>
          <p:cNvGrpSpPr/>
          <p:nvPr/>
        </p:nvGrpSpPr>
        <p:grpSpPr>
          <a:xfrm>
            <a:off x="2819400" y="5448300"/>
            <a:ext cx="8553420" cy="417167"/>
            <a:chOff x="571500" y="5165783"/>
            <a:chExt cx="5702280" cy="278111"/>
          </a:xfrm>
        </p:grpSpPr>
        <p:sp>
          <p:nvSpPr>
            <p:cNvPr id="6" name="Google Shape;60;p3">
              <a:extLst>
                <a:ext uri="{FF2B5EF4-FFF2-40B4-BE49-F238E27FC236}">
                  <a16:creationId xmlns:a16="http://schemas.microsoft.com/office/drawing/2014/main" id="{110235D1-3508-1C69-D303-3222F55949D0}"/>
                </a:ext>
              </a:extLst>
            </p:cNvPr>
            <p:cNvSpPr/>
            <p:nvPr/>
          </p:nvSpPr>
          <p:spPr>
            <a:xfrm>
              <a:off x="754380" y="5166895"/>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Methodology</a:t>
              </a:r>
              <a:endParaRPr lang="en-US" sz="3600" dirty="0">
                <a:solidFill>
                  <a:schemeClr val="tx1">
                    <a:lumMod val="50000"/>
                    <a:lumOff val="50000"/>
                  </a:schemeClr>
                </a:solidFill>
              </a:endParaRPr>
            </a:p>
          </p:txBody>
        </p:sp>
        <p:sp>
          <p:nvSpPr>
            <p:cNvPr id="7" name="Google Shape;61;p3">
              <a:extLst>
                <a:ext uri="{FF2B5EF4-FFF2-40B4-BE49-F238E27FC236}">
                  <a16:creationId xmlns:a16="http://schemas.microsoft.com/office/drawing/2014/main" id="{E6458DC3-59A4-0EBF-A289-048FA7A60A77}"/>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8" name="Google Shape;59;p3">
            <a:extLst>
              <a:ext uri="{FF2B5EF4-FFF2-40B4-BE49-F238E27FC236}">
                <a16:creationId xmlns:a16="http://schemas.microsoft.com/office/drawing/2014/main" id="{0E83B93D-FB8E-813F-FBA1-1E0AA2590DF9}"/>
              </a:ext>
            </a:extLst>
          </p:cNvPr>
          <p:cNvGrpSpPr/>
          <p:nvPr/>
        </p:nvGrpSpPr>
        <p:grpSpPr>
          <a:xfrm>
            <a:off x="2838827" y="6691517"/>
            <a:ext cx="8553420" cy="417186"/>
            <a:chOff x="571500" y="5165783"/>
            <a:chExt cx="5702280" cy="278124"/>
          </a:xfrm>
        </p:grpSpPr>
        <p:sp>
          <p:nvSpPr>
            <p:cNvPr id="9" name="Google Shape;60;p3">
              <a:extLst>
                <a:ext uri="{FF2B5EF4-FFF2-40B4-BE49-F238E27FC236}">
                  <a16:creationId xmlns:a16="http://schemas.microsoft.com/office/drawing/2014/main" id="{FDE556D7-EC6D-1D09-60BA-1733684DF161}"/>
                </a:ext>
              </a:extLst>
            </p:cNvPr>
            <p:cNvSpPr/>
            <p:nvPr/>
          </p:nvSpPr>
          <p:spPr>
            <a:xfrm>
              <a:off x="754380" y="5166909"/>
              <a:ext cx="5519400" cy="276998"/>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rPr>
                <a:t>Results and Insights</a:t>
              </a:r>
            </a:p>
          </p:txBody>
        </p:sp>
        <p:sp>
          <p:nvSpPr>
            <p:cNvPr id="10" name="Google Shape;61;p3">
              <a:extLst>
                <a:ext uri="{FF2B5EF4-FFF2-40B4-BE49-F238E27FC236}">
                  <a16:creationId xmlns:a16="http://schemas.microsoft.com/office/drawing/2014/main" id="{6277DDF3-91B1-AA00-1386-A1A6AE3E8793}"/>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chemeClr val="lt1"/>
                </a:solidFill>
                <a:latin typeface="Calibri"/>
                <a:ea typeface="Calibri"/>
                <a:cs typeface="Calibri"/>
                <a:sym typeface="Calibri"/>
              </a:endParaRPr>
            </a:p>
          </p:txBody>
        </p:sp>
      </p:grpSp>
      <p:grpSp>
        <p:nvGrpSpPr>
          <p:cNvPr id="11" name="Google Shape;59;p3">
            <a:extLst>
              <a:ext uri="{FF2B5EF4-FFF2-40B4-BE49-F238E27FC236}">
                <a16:creationId xmlns:a16="http://schemas.microsoft.com/office/drawing/2014/main" id="{3CA8EB46-EC47-6EAB-45AB-35AABA7AD741}"/>
              </a:ext>
            </a:extLst>
          </p:cNvPr>
          <p:cNvGrpSpPr/>
          <p:nvPr/>
        </p:nvGrpSpPr>
        <p:grpSpPr>
          <a:xfrm>
            <a:off x="2838827" y="7283645"/>
            <a:ext cx="8553420" cy="417183"/>
            <a:chOff x="571500" y="5165783"/>
            <a:chExt cx="5702280" cy="278122"/>
          </a:xfrm>
        </p:grpSpPr>
        <p:sp>
          <p:nvSpPr>
            <p:cNvPr id="12" name="Google Shape;60;p3">
              <a:extLst>
                <a:ext uri="{FF2B5EF4-FFF2-40B4-BE49-F238E27FC236}">
                  <a16:creationId xmlns:a16="http://schemas.microsoft.com/office/drawing/2014/main" id="{2231DFCB-7FA7-1BBF-5F08-CDF456B44596}"/>
                </a:ext>
              </a:extLst>
            </p:cNvPr>
            <p:cNvSpPr/>
            <p:nvPr/>
          </p:nvSpPr>
          <p:spPr>
            <a:xfrm>
              <a:off x="754380" y="5166906"/>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ea typeface="Arial" panose="020B0604020202020204" pitchFamily="34" charset="0"/>
                  <a:cs typeface="Arial" panose="020B0604020202020204" pitchFamily="34" charset="0"/>
                </a:rPr>
                <a:t>Conclusion</a:t>
              </a:r>
              <a:endParaRPr lang="en-US" sz="3600" dirty="0">
                <a:solidFill>
                  <a:schemeClr val="tx1">
                    <a:lumMod val="50000"/>
                    <a:lumOff val="50000"/>
                  </a:schemeClr>
                </a:solidFill>
              </a:endParaRPr>
            </a:p>
          </p:txBody>
        </p:sp>
        <p:sp>
          <p:nvSpPr>
            <p:cNvPr id="13" name="Google Shape;61;p3">
              <a:extLst>
                <a:ext uri="{FF2B5EF4-FFF2-40B4-BE49-F238E27FC236}">
                  <a16:creationId xmlns:a16="http://schemas.microsoft.com/office/drawing/2014/main" id="{5EF8DC89-3F49-24B6-3A27-FDD5D5F053DC}"/>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4" name="Google Shape;59;p3">
            <a:extLst>
              <a:ext uri="{FF2B5EF4-FFF2-40B4-BE49-F238E27FC236}">
                <a16:creationId xmlns:a16="http://schemas.microsoft.com/office/drawing/2014/main" id="{A19A8D05-497D-B04B-F2FA-1D1B5594F206}"/>
              </a:ext>
            </a:extLst>
          </p:cNvPr>
          <p:cNvGrpSpPr/>
          <p:nvPr/>
        </p:nvGrpSpPr>
        <p:grpSpPr>
          <a:xfrm>
            <a:off x="2838827" y="7879169"/>
            <a:ext cx="8553420" cy="417185"/>
            <a:chOff x="571500" y="5165783"/>
            <a:chExt cx="5702280" cy="278123"/>
          </a:xfrm>
        </p:grpSpPr>
        <p:sp>
          <p:nvSpPr>
            <p:cNvPr id="15" name="Google Shape;60;p3">
              <a:extLst>
                <a:ext uri="{FF2B5EF4-FFF2-40B4-BE49-F238E27FC236}">
                  <a16:creationId xmlns:a16="http://schemas.microsoft.com/office/drawing/2014/main" id="{AD80F6BE-9137-46A3-7D4B-B3F6D935D845}"/>
                </a:ext>
              </a:extLst>
            </p:cNvPr>
            <p:cNvSpPr/>
            <p:nvPr/>
          </p:nvSpPr>
          <p:spPr>
            <a:xfrm>
              <a:off x="754380" y="5166907"/>
              <a:ext cx="5519400" cy="276999"/>
            </a:xfrm>
            <a:prstGeom prst="rect">
              <a:avLst/>
            </a:prstGeom>
            <a:noFill/>
            <a:ln>
              <a:noFill/>
            </a:ln>
          </p:spPr>
          <p:txBody>
            <a:bodyPr spcFirstLastPara="1" wrap="square" lIns="0" tIns="0" rIns="0" bIns="0" anchor="ctr" anchorCtr="0">
              <a:spAutoFit/>
            </a:bodyPr>
            <a:lstStyle/>
            <a:p>
              <a:r>
                <a:rPr lang="en-US" sz="2700" b="1" dirty="0">
                  <a:latin typeface="Arial" panose="020B0604020202020204" pitchFamily="34" charset="0"/>
                  <a:ea typeface="Arial" panose="020B0604020202020204" pitchFamily="34" charset="0"/>
                  <a:cs typeface="Arial" panose="020B0604020202020204" pitchFamily="34" charset="0"/>
                </a:rPr>
                <a:t>Q&amp;A</a:t>
              </a:r>
              <a:endParaRPr lang="en-US" sz="2700" b="1" dirty="0"/>
            </a:p>
          </p:txBody>
        </p:sp>
        <p:sp>
          <p:nvSpPr>
            <p:cNvPr id="16" name="Google Shape;61;p3">
              <a:extLst>
                <a:ext uri="{FF2B5EF4-FFF2-40B4-BE49-F238E27FC236}">
                  <a16:creationId xmlns:a16="http://schemas.microsoft.com/office/drawing/2014/main" id="{349DEBB7-FAA1-C511-4D90-C55FABEDE3E8}"/>
                </a:ext>
              </a:extLst>
            </p:cNvPr>
            <p:cNvSpPr/>
            <p:nvPr/>
          </p:nvSpPr>
          <p:spPr>
            <a:xfrm>
              <a:off x="571500" y="5165783"/>
              <a:ext cx="36000" cy="252000"/>
            </a:xfrm>
            <a:prstGeom prst="rect">
              <a:avLst/>
            </a:prstGeom>
            <a:solidFill>
              <a:srgbClr val="193EB0"/>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17" name="Google Shape;53;p3">
            <a:extLst>
              <a:ext uri="{FF2B5EF4-FFF2-40B4-BE49-F238E27FC236}">
                <a16:creationId xmlns:a16="http://schemas.microsoft.com/office/drawing/2014/main" id="{45390769-5DBD-5D20-6B29-C7D403F2253D}"/>
              </a:ext>
            </a:extLst>
          </p:cNvPr>
          <p:cNvGrpSpPr/>
          <p:nvPr/>
        </p:nvGrpSpPr>
        <p:grpSpPr>
          <a:xfrm>
            <a:off x="2838827" y="4304447"/>
            <a:ext cx="8553420" cy="417185"/>
            <a:chOff x="571500" y="3764860"/>
            <a:chExt cx="5702280" cy="278123"/>
          </a:xfrm>
        </p:grpSpPr>
        <p:sp>
          <p:nvSpPr>
            <p:cNvPr id="18" name="Google Shape;54;p3">
              <a:extLst>
                <a:ext uri="{FF2B5EF4-FFF2-40B4-BE49-F238E27FC236}">
                  <a16:creationId xmlns:a16="http://schemas.microsoft.com/office/drawing/2014/main" id="{F95E8AB1-C86C-5951-0C0A-796069300F7D}"/>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tx1">
                      <a:lumMod val="50000"/>
                      <a:lumOff val="50000"/>
                    </a:schemeClr>
                  </a:solidFill>
                  <a:latin typeface="Arial" panose="020B0604020202020204" pitchFamily="34" charset="0"/>
                  <a:cs typeface="Arial" panose="020B0604020202020204" pitchFamily="34" charset="0"/>
                </a:rPr>
                <a:t>Introduction</a:t>
              </a:r>
            </a:p>
          </p:txBody>
        </p:sp>
        <p:sp>
          <p:nvSpPr>
            <p:cNvPr id="19" name="Google Shape;55;p3">
              <a:extLst>
                <a:ext uri="{FF2B5EF4-FFF2-40B4-BE49-F238E27FC236}">
                  <a16:creationId xmlns:a16="http://schemas.microsoft.com/office/drawing/2014/main" id="{89D57B8B-FE06-CC1A-1314-83365C8A16D2}"/>
                </a:ext>
              </a:extLst>
            </p:cNvPr>
            <p:cNvSpPr/>
            <p:nvPr/>
          </p:nvSpPr>
          <p:spPr>
            <a:xfrm>
              <a:off x="571500" y="3764860"/>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grpSp>
        <p:nvGrpSpPr>
          <p:cNvPr id="20" name="Google Shape;56;p3">
            <a:extLst>
              <a:ext uri="{FF2B5EF4-FFF2-40B4-BE49-F238E27FC236}">
                <a16:creationId xmlns:a16="http://schemas.microsoft.com/office/drawing/2014/main" id="{F008D7E0-5724-D67D-06AA-9C1725D5BFDC}"/>
              </a:ext>
            </a:extLst>
          </p:cNvPr>
          <p:cNvGrpSpPr/>
          <p:nvPr/>
        </p:nvGrpSpPr>
        <p:grpSpPr>
          <a:xfrm>
            <a:off x="2819400" y="6057900"/>
            <a:ext cx="8553420" cy="417186"/>
            <a:chOff x="571500" y="5165783"/>
            <a:chExt cx="5702280" cy="278124"/>
          </a:xfrm>
        </p:grpSpPr>
        <p:sp>
          <p:nvSpPr>
            <p:cNvPr id="21" name="Google Shape;57;p3">
              <a:extLst>
                <a:ext uri="{FF2B5EF4-FFF2-40B4-BE49-F238E27FC236}">
                  <a16:creationId xmlns:a16="http://schemas.microsoft.com/office/drawing/2014/main" id="{91F47DB6-1F13-BCA9-1F4A-C0BE191FBDAC}"/>
                </a:ext>
              </a:extLst>
            </p:cNvPr>
            <p:cNvSpPr/>
            <p:nvPr/>
          </p:nvSpPr>
          <p:spPr>
            <a:xfrm>
              <a:off x="754380" y="5166908"/>
              <a:ext cx="5519400" cy="276999"/>
            </a:xfrm>
            <a:prstGeom prst="rect">
              <a:avLst/>
            </a:prstGeom>
            <a:noFill/>
            <a:ln>
              <a:noFill/>
            </a:ln>
          </p:spPr>
          <p:txBody>
            <a:bodyPr spcFirstLastPara="1" wrap="square" lIns="0" tIns="0" rIns="0" bIns="0" anchor="ctr" anchorCtr="0">
              <a:spAutoFit/>
            </a:bodyPr>
            <a:lstStyle/>
            <a:p>
              <a:r>
                <a:rPr lang="en-US" sz="2700" dirty="0">
                  <a:solidFill>
                    <a:srgbClr val="7F7F7F"/>
                  </a:solidFill>
                  <a:latin typeface="Arial" panose="020B0604020202020204" pitchFamily="34" charset="0"/>
                  <a:cs typeface="Arial" panose="020B0604020202020204" pitchFamily="34" charset="0"/>
                </a:rPr>
                <a:t>Key Tasks</a:t>
              </a:r>
            </a:p>
          </p:txBody>
        </p:sp>
        <p:sp>
          <p:nvSpPr>
            <p:cNvPr id="22" name="Google Shape;58;p3">
              <a:extLst>
                <a:ext uri="{FF2B5EF4-FFF2-40B4-BE49-F238E27FC236}">
                  <a16:creationId xmlns:a16="http://schemas.microsoft.com/office/drawing/2014/main" id="{6A8D02FD-47C3-273C-A1A4-117CD8F6C287}"/>
                </a:ext>
              </a:extLst>
            </p:cNvPr>
            <p:cNvSpPr/>
            <p:nvPr/>
          </p:nvSpPr>
          <p:spPr>
            <a:xfrm>
              <a:off x="571500" y="5165783"/>
              <a:ext cx="36000" cy="252000"/>
            </a:xfrm>
            <a:prstGeom prst="rect">
              <a:avLst/>
            </a:prstGeom>
            <a:solidFill>
              <a:srgbClr val="A6A6A6"/>
            </a:solidFill>
            <a:ln>
              <a:noFill/>
            </a:ln>
          </p:spPr>
          <p:txBody>
            <a:bodyPr spcFirstLastPara="1" wrap="square" lIns="137138" tIns="68550" rIns="137138" bIns="68550" anchor="ctr" anchorCtr="0">
              <a:noAutofit/>
            </a:bodyPr>
            <a:lstStyle/>
            <a:p>
              <a:pPr algn="ctr"/>
              <a:endParaRPr sz="4200" dirty="0">
                <a:solidFill>
                  <a:srgbClr val="A6A6A6"/>
                </a:solidFill>
                <a:latin typeface="Calibri"/>
                <a:ea typeface="Calibri"/>
                <a:cs typeface="Calibri"/>
                <a:sym typeface="Calibri"/>
              </a:endParaRPr>
            </a:p>
          </p:txBody>
        </p:sp>
      </p:grpSp>
      <p:grpSp>
        <p:nvGrpSpPr>
          <p:cNvPr id="26" name="Google Shape;53;p3">
            <a:extLst>
              <a:ext uri="{FF2B5EF4-FFF2-40B4-BE49-F238E27FC236}">
                <a16:creationId xmlns:a16="http://schemas.microsoft.com/office/drawing/2014/main" id="{2FD0EABC-52F2-4414-C7E0-16AF5C8B4532}"/>
              </a:ext>
            </a:extLst>
          </p:cNvPr>
          <p:cNvGrpSpPr/>
          <p:nvPr/>
        </p:nvGrpSpPr>
        <p:grpSpPr>
          <a:xfrm>
            <a:off x="2838827" y="4844093"/>
            <a:ext cx="8553420" cy="417185"/>
            <a:chOff x="571500" y="3764860"/>
            <a:chExt cx="5702280" cy="278123"/>
          </a:xfrm>
        </p:grpSpPr>
        <p:sp>
          <p:nvSpPr>
            <p:cNvPr id="27" name="Google Shape;54;p3">
              <a:extLst>
                <a:ext uri="{FF2B5EF4-FFF2-40B4-BE49-F238E27FC236}">
                  <a16:creationId xmlns:a16="http://schemas.microsoft.com/office/drawing/2014/main" id="{C798BA73-F11F-0207-BB46-3A4648622ECF}"/>
                </a:ext>
              </a:extLst>
            </p:cNvPr>
            <p:cNvSpPr/>
            <p:nvPr/>
          </p:nvSpPr>
          <p:spPr>
            <a:xfrm>
              <a:off x="754380" y="3765984"/>
              <a:ext cx="5519400" cy="276999"/>
            </a:xfrm>
            <a:prstGeom prst="rect">
              <a:avLst/>
            </a:prstGeom>
            <a:noFill/>
            <a:ln>
              <a:noFill/>
            </a:ln>
          </p:spPr>
          <p:txBody>
            <a:bodyPr spcFirstLastPara="1" wrap="square" lIns="0" tIns="0" rIns="0" bIns="0" anchor="ctr" anchorCtr="0">
              <a:spAutoFit/>
            </a:bodyPr>
            <a:lstStyle/>
            <a:p>
              <a:r>
                <a:rPr lang="en-US" sz="2700" dirty="0">
                  <a:solidFill>
                    <a:schemeClr val="bg1">
                      <a:lumMod val="50000"/>
                    </a:schemeClr>
                  </a:solidFill>
                  <a:latin typeface="Arial" panose="020B0604020202020204" pitchFamily="34" charset="0"/>
                  <a:cs typeface="Arial" panose="020B0604020202020204" pitchFamily="34" charset="0"/>
                </a:rPr>
                <a:t>Problem Statement</a:t>
              </a:r>
              <a:endParaRPr lang="en-US" sz="3600" dirty="0">
                <a:solidFill>
                  <a:schemeClr val="bg1">
                    <a:lumMod val="50000"/>
                  </a:schemeClr>
                </a:solidFill>
              </a:endParaRPr>
            </a:p>
          </p:txBody>
        </p:sp>
        <p:sp>
          <p:nvSpPr>
            <p:cNvPr id="28" name="Google Shape;55;p3">
              <a:extLst>
                <a:ext uri="{FF2B5EF4-FFF2-40B4-BE49-F238E27FC236}">
                  <a16:creationId xmlns:a16="http://schemas.microsoft.com/office/drawing/2014/main" id="{17C2752D-50A8-62F0-8AA6-11C8C3B9AFF3}"/>
                </a:ext>
              </a:extLst>
            </p:cNvPr>
            <p:cNvSpPr/>
            <p:nvPr/>
          </p:nvSpPr>
          <p:spPr>
            <a:xfrm>
              <a:off x="571500" y="3764860"/>
              <a:ext cx="36000" cy="252000"/>
            </a:xfrm>
            <a:prstGeom prst="rect">
              <a:avLst/>
            </a:prstGeom>
            <a:solidFill>
              <a:schemeClr val="bg1">
                <a:lumMod val="65000"/>
              </a:schemeClr>
            </a:solidFill>
            <a:ln>
              <a:noFill/>
            </a:ln>
          </p:spPr>
          <p:txBody>
            <a:bodyPr spcFirstLastPara="1" wrap="square" lIns="137138" tIns="68550" rIns="137138" bIns="68550" anchor="ctr" anchorCtr="0">
              <a:noAutofit/>
            </a:bodyPr>
            <a:lstStyle/>
            <a:p>
              <a:pPr algn="ctr"/>
              <a:endParaRPr sz="4200">
                <a:solidFill>
                  <a:schemeClr val="lt1"/>
                </a:solidFill>
                <a:latin typeface="Calibri"/>
                <a:ea typeface="Calibri"/>
                <a:cs typeface="Calibri"/>
                <a:sym typeface="Calibri"/>
              </a:endParaRPr>
            </a:p>
          </p:txBody>
        </p:sp>
      </p:grpSp>
      <p:pic>
        <p:nvPicPr>
          <p:cNvPr id="23" name="Picture 4">
            <a:extLst>
              <a:ext uri="{FF2B5EF4-FFF2-40B4-BE49-F238E27FC236}">
                <a16:creationId xmlns:a16="http://schemas.microsoft.com/office/drawing/2014/main" id="{0A85C821-0D69-DB73-B4F2-AC8DCB7939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362" y="363449"/>
            <a:ext cx="2736878" cy="2736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2942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fltVal val="0"/>
                                          </p:val>
                                        </p:tav>
                                        <p:tav tm="100000">
                                          <p:val>
                                            <p:strVal val="#ppt_w"/>
                                          </p:val>
                                        </p:tav>
                                      </p:tavLst>
                                    </p:anim>
                                    <p:anim calcmode="lin" valueType="num">
                                      <p:cBhvr>
                                        <p:cTn id="20" dur="500" fill="hold"/>
                                        <p:tgtEl>
                                          <p:spTgt spid="20"/>
                                        </p:tgtEl>
                                        <p:attrNameLst>
                                          <p:attrName>ppt_h</p:attrName>
                                        </p:attrNameLst>
                                      </p:cBhvr>
                                      <p:tavLst>
                                        <p:tav tm="0">
                                          <p:val>
                                            <p:fltVal val="0"/>
                                          </p:val>
                                        </p:tav>
                                        <p:tav tm="100000">
                                          <p:val>
                                            <p:strVal val="#ppt_h"/>
                                          </p:val>
                                        </p:tav>
                                      </p:tavLst>
                                    </p:anim>
                                    <p:animEffect transition="in" filter="fade">
                                      <p:cBhvr>
                                        <p:cTn id="21" dur="500"/>
                                        <p:tgtEl>
                                          <p:spTgt spid="20"/>
                                        </p:tgtEl>
                                      </p:cBhvr>
                                    </p:animEffect>
                                  </p:childTnLst>
                                </p:cTn>
                              </p:par>
                              <p:par>
                                <p:cTn id="22" presetID="53" presetClass="entr" presetSubtype="16"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p:cTn id="24" dur="500" fill="hold"/>
                                        <p:tgtEl>
                                          <p:spTgt spid="5"/>
                                        </p:tgtEl>
                                        <p:attrNameLst>
                                          <p:attrName>ppt_w</p:attrName>
                                        </p:attrNameLst>
                                      </p:cBhvr>
                                      <p:tavLst>
                                        <p:tav tm="0">
                                          <p:val>
                                            <p:fltVal val="0"/>
                                          </p:val>
                                        </p:tav>
                                        <p:tav tm="100000">
                                          <p:val>
                                            <p:strVal val="#ppt_w"/>
                                          </p:val>
                                        </p:tav>
                                      </p:tavLst>
                                    </p:anim>
                                    <p:anim calcmode="lin" valueType="num">
                                      <p:cBhvr>
                                        <p:cTn id="25" dur="500" fill="hold"/>
                                        <p:tgtEl>
                                          <p:spTgt spid="5"/>
                                        </p:tgtEl>
                                        <p:attrNameLst>
                                          <p:attrName>ppt_h</p:attrName>
                                        </p:attrNameLst>
                                      </p:cBhvr>
                                      <p:tavLst>
                                        <p:tav tm="0">
                                          <p:val>
                                            <p:fltVal val="0"/>
                                          </p:val>
                                        </p:tav>
                                        <p:tav tm="100000">
                                          <p:val>
                                            <p:strVal val="#ppt_h"/>
                                          </p:val>
                                        </p:tav>
                                      </p:tavLst>
                                    </p:anim>
                                    <p:animEffect transition="in" filter="fade">
                                      <p:cBhvr>
                                        <p:cTn id="26" dur="500"/>
                                        <p:tgtEl>
                                          <p:spTgt spid="5"/>
                                        </p:tgtEl>
                                      </p:cBhvr>
                                    </p:animEffect>
                                  </p:childTnLst>
                                </p:cTn>
                              </p:par>
                              <p:par>
                                <p:cTn id="27" presetID="53" presetClass="entr" presetSubtype="16"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p:cTn id="29" dur="500" fill="hold"/>
                                        <p:tgtEl>
                                          <p:spTgt spid="8"/>
                                        </p:tgtEl>
                                        <p:attrNameLst>
                                          <p:attrName>ppt_w</p:attrName>
                                        </p:attrNameLst>
                                      </p:cBhvr>
                                      <p:tavLst>
                                        <p:tav tm="0">
                                          <p:val>
                                            <p:fltVal val="0"/>
                                          </p:val>
                                        </p:tav>
                                        <p:tav tm="100000">
                                          <p:val>
                                            <p:strVal val="#ppt_w"/>
                                          </p:val>
                                        </p:tav>
                                      </p:tavLst>
                                    </p:anim>
                                    <p:anim calcmode="lin" valueType="num">
                                      <p:cBhvr>
                                        <p:cTn id="30" dur="500" fill="hold"/>
                                        <p:tgtEl>
                                          <p:spTgt spid="8"/>
                                        </p:tgtEl>
                                        <p:attrNameLst>
                                          <p:attrName>ppt_h</p:attrName>
                                        </p:attrNameLst>
                                      </p:cBhvr>
                                      <p:tavLst>
                                        <p:tav tm="0">
                                          <p:val>
                                            <p:fltVal val="0"/>
                                          </p:val>
                                        </p:tav>
                                        <p:tav tm="100000">
                                          <p:val>
                                            <p:strVal val="#ppt_h"/>
                                          </p:val>
                                        </p:tav>
                                      </p:tavLst>
                                    </p:anim>
                                    <p:animEffect transition="in" filter="fade">
                                      <p:cBhvr>
                                        <p:cTn id="31" dur="500"/>
                                        <p:tgtEl>
                                          <p:spTgt spid="8"/>
                                        </p:tgtEl>
                                      </p:cBhvr>
                                    </p:animEffect>
                                  </p:childTnLst>
                                </p:cTn>
                              </p:par>
                              <p:par>
                                <p:cTn id="32" presetID="53" presetClass="entr" presetSubtype="16"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ppt_w</p:attrName>
                                        </p:attrNameLst>
                                      </p:cBhvr>
                                      <p:tavLst>
                                        <p:tav tm="0">
                                          <p:val>
                                            <p:fltVal val="0"/>
                                          </p:val>
                                        </p:tav>
                                        <p:tav tm="100000">
                                          <p:val>
                                            <p:strVal val="#ppt_w"/>
                                          </p:val>
                                        </p:tav>
                                      </p:tavLst>
                                    </p:anim>
                                    <p:anim calcmode="lin" valueType="num">
                                      <p:cBhvr>
                                        <p:cTn id="40" dur="500" fill="hold"/>
                                        <p:tgtEl>
                                          <p:spTgt spid="14"/>
                                        </p:tgtEl>
                                        <p:attrNameLst>
                                          <p:attrName>ppt_h</p:attrName>
                                        </p:attrNameLst>
                                      </p:cBhvr>
                                      <p:tavLst>
                                        <p:tav tm="0">
                                          <p:val>
                                            <p:fltVal val="0"/>
                                          </p:val>
                                        </p:tav>
                                        <p:tav tm="100000">
                                          <p:val>
                                            <p:strVal val="#ppt_h"/>
                                          </p:val>
                                        </p:tav>
                                      </p:tavLst>
                                    </p:anim>
                                    <p:animEffect transition="in" filter="fade">
                                      <p:cBhvr>
                                        <p:cTn id="41" dur="500"/>
                                        <p:tgtEl>
                                          <p:spTgt spid="14"/>
                                        </p:tgtEl>
                                      </p:cBhvr>
                                    </p:animEffect>
                                  </p:childTnLst>
                                </p:cTn>
                              </p:par>
                              <p:par>
                                <p:cTn id="42" presetID="53" presetClass="entr" presetSubtype="16" fill="hold" nodeType="withEffect">
                                  <p:stCondLst>
                                    <p:cond delay="0"/>
                                  </p:stCondLst>
                                  <p:childTnLst>
                                    <p:set>
                                      <p:cBhvr>
                                        <p:cTn id="43" dur="1" fill="hold">
                                          <p:stCondLst>
                                            <p:cond delay="0"/>
                                          </p:stCondLst>
                                        </p:cTn>
                                        <p:tgtEl>
                                          <p:spTgt spid="26"/>
                                        </p:tgtEl>
                                        <p:attrNameLst>
                                          <p:attrName>style.visibility</p:attrName>
                                        </p:attrNameLst>
                                      </p:cBhvr>
                                      <p:to>
                                        <p:strVal val="visible"/>
                                      </p:to>
                                    </p:set>
                                    <p:anim calcmode="lin" valueType="num">
                                      <p:cBhvr>
                                        <p:cTn id="44" dur="500" fill="hold"/>
                                        <p:tgtEl>
                                          <p:spTgt spid="26"/>
                                        </p:tgtEl>
                                        <p:attrNameLst>
                                          <p:attrName>ppt_w</p:attrName>
                                        </p:attrNameLst>
                                      </p:cBhvr>
                                      <p:tavLst>
                                        <p:tav tm="0">
                                          <p:val>
                                            <p:fltVal val="0"/>
                                          </p:val>
                                        </p:tav>
                                        <p:tav tm="100000">
                                          <p:val>
                                            <p:strVal val="#ppt_w"/>
                                          </p:val>
                                        </p:tav>
                                      </p:tavLst>
                                    </p:anim>
                                    <p:anim calcmode="lin" valueType="num">
                                      <p:cBhvr>
                                        <p:cTn id="45" dur="500" fill="hold"/>
                                        <p:tgtEl>
                                          <p:spTgt spid="26"/>
                                        </p:tgtEl>
                                        <p:attrNameLst>
                                          <p:attrName>ppt_h</p:attrName>
                                        </p:attrNameLst>
                                      </p:cBhvr>
                                      <p:tavLst>
                                        <p:tav tm="0">
                                          <p:val>
                                            <p:fltVal val="0"/>
                                          </p:val>
                                        </p:tav>
                                        <p:tav tm="100000">
                                          <p:val>
                                            <p:strVal val="#ppt_h"/>
                                          </p:val>
                                        </p:tav>
                                      </p:tavLst>
                                    </p:anim>
                                    <p:animEffect transition="in" filter="fade">
                                      <p:cBhvr>
                                        <p:cTn id="4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9;p2">
            <a:extLst>
              <a:ext uri="{FF2B5EF4-FFF2-40B4-BE49-F238E27FC236}">
                <a16:creationId xmlns:a16="http://schemas.microsoft.com/office/drawing/2014/main" id="{4C84A5C2-7E7A-306C-D05B-4E0B0A6A0765}"/>
              </a:ext>
            </a:extLst>
          </p:cNvPr>
          <p:cNvSpPr/>
          <p:nvPr/>
        </p:nvSpPr>
        <p:spPr>
          <a:xfrm>
            <a:off x="2438400" y="1609517"/>
            <a:ext cx="10512900" cy="1015663"/>
          </a:xfrm>
          <a:prstGeom prst="rect">
            <a:avLst/>
          </a:prstGeom>
          <a:noFill/>
          <a:ln>
            <a:noFill/>
          </a:ln>
        </p:spPr>
        <p:txBody>
          <a:bodyPr spcFirstLastPara="1" wrap="square" lIns="0" tIns="0" rIns="0" bIns="0" anchor="t" anchorCtr="0">
            <a:spAutoFit/>
          </a:bodyPr>
          <a:lstStyle/>
          <a:p>
            <a:r>
              <a:rPr lang="en-US" sz="6600" b="1" dirty="0">
                <a:solidFill>
                  <a:schemeClr val="bg1"/>
                </a:solidFill>
                <a:latin typeface="Arial" panose="020B0604020202020204" pitchFamily="34" charset="0"/>
                <a:ea typeface="Arial" panose="020B0604020202020204" pitchFamily="34" charset="0"/>
                <a:cs typeface="Arial" panose="020B0604020202020204" pitchFamily="34" charset="0"/>
              </a:rPr>
              <a:t>Q&amp;A</a:t>
            </a:r>
            <a:endParaRPr lang="en-US" sz="8000" b="1" dirty="0">
              <a:solidFill>
                <a:schemeClr val="bg1"/>
              </a:solidFill>
            </a:endParaRPr>
          </a:p>
        </p:txBody>
      </p:sp>
      <p:sp>
        <p:nvSpPr>
          <p:cNvPr id="6" name="TextBox 5">
            <a:extLst>
              <a:ext uri="{FF2B5EF4-FFF2-40B4-BE49-F238E27FC236}">
                <a16:creationId xmlns:a16="http://schemas.microsoft.com/office/drawing/2014/main" id="{BEFD46E2-EDE3-18B0-75D9-B517A8E178A8}"/>
              </a:ext>
            </a:extLst>
          </p:cNvPr>
          <p:cNvSpPr txBox="1"/>
          <p:nvPr/>
        </p:nvSpPr>
        <p:spPr>
          <a:xfrm>
            <a:off x="990600" y="3390900"/>
            <a:ext cx="13716000" cy="1384995"/>
          </a:xfrm>
          <a:prstGeom prst="rect">
            <a:avLst/>
          </a:prstGeom>
          <a:noFill/>
        </p:spPr>
        <p:txBody>
          <a:bodyPr wrap="square" rtlCol="0">
            <a:spAutoFit/>
          </a:bodyPr>
          <a:lstStyle/>
          <a:p>
            <a:r>
              <a:rPr lang="en-US" sz="2800" b="1" dirty="0"/>
              <a:t>Questions &amp; Discussion</a:t>
            </a:r>
            <a:endParaRPr lang="en-US" sz="2800" dirty="0"/>
          </a:p>
          <a:p>
            <a:r>
              <a:rPr lang="en-US" sz="2800" i="1" dirty="0"/>
              <a:t>We’d be happy to answer any questions about the project, data pipeline, analysis, or business insight</a:t>
            </a:r>
            <a:endParaRPr lang="en-US" sz="2800" dirty="0"/>
          </a:p>
        </p:txBody>
      </p:sp>
      <p:pic>
        <p:nvPicPr>
          <p:cNvPr id="3076" name="Picture 4" descr="Q&amp;a - Free education icons">
            <a:extLst>
              <a:ext uri="{FF2B5EF4-FFF2-40B4-BE49-F238E27FC236}">
                <a16:creationId xmlns:a16="http://schemas.microsoft.com/office/drawing/2014/main" id="{C7A20B15-179C-9A8F-3945-4BB3926AAE9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405980"/>
            <a:ext cx="1219200" cy="121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0554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2" name="Rectangle 1">
            <a:extLst>
              <a:ext uri="{FF2B5EF4-FFF2-40B4-BE49-F238E27FC236}">
                <a16:creationId xmlns:a16="http://schemas.microsoft.com/office/drawing/2014/main" id="{2F85AD2F-4ACB-BCA4-7FCE-FB7E7E737CD8}"/>
              </a:ext>
            </a:extLst>
          </p:cNvPr>
          <p:cNvSpPr/>
          <p:nvPr/>
        </p:nvSpPr>
        <p:spPr>
          <a:xfrm>
            <a:off x="4114800" y="2857500"/>
            <a:ext cx="9144000" cy="4114800"/>
          </a:xfrm>
          <a:prstGeom prst="rect">
            <a:avLst/>
          </a:prstGeom>
          <a:solidFill>
            <a:srgbClr val="193EB0"/>
          </a:solidFill>
          <a:ln>
            <a:solidFill>
              <a:srgbClr val="193E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193EB0"/>
                </a:solidFill>
              </a:ln>
            </a:endParaRPr>
          </a:p>
        </p:txBody>
      </p:sp>
      <p:sp>
        <p:nvSpPr>
          <p:cNvPr id="3" name="TextBox 2">
            <a:extLst>
              <a:ext uri="{FF2B5EF4-FFF2-40B4-BE49-F238E27FC236}">
                <a16:creationId xmlns:a16="http://schemas.microsoft.com/office/drawing/2014/main" id="{BC8373FC-DCEC-B148-D9E4-13A8844DE7FE}"/>
              </a:ext>
            </a:extLst>
          </p:cNvPr>
          <p:cNvSpPr txBox="1"/>
          <p:nvPr/>
        </p:nvSpPr>
        <p:spPr>
          <a:xfrm>
            <a:off x="6172200" y="2552700"/>
            <a:ext cx="5943600" cy="1200329"/>
          </a:xfrm>
          <a:prstGeom prst="rect">
            <a:avLst/>
          </a:prstGeom>
          <a:noFill/>
          <a:effectLst>
            <a:outerShdw blurRad="50800" dist="38100" dir="2700000" algn="tl" rotWithShape="0">
              <a:prstClr val="black">
                <a:alpha val="40000"/>
              </a:prstClr>
            </a:outerShdw>
          </a:effectLst>
        </p:spPr>
        <p:txBody>
          <a:bodyPr wrap="square" rtlCol="0" anchor="ctr">
            <a:spAutoFit/>
          </a:bodyPr>
          <a:lstStyle/>
          <a:p>
            <a:r>
              <a:rPr lang="en-US" sz="7200" dirty="0">
                <a:solidFill>
                  <a:schemeClr val="bg1"/>
                </a:solidFill>
                <a:latin typeface="Viner Hand ITC" panose="03070502030502020203" pitchFamily="66" charset="0"/>
              </a:rPr>
              <a:t>Thank You</a:t>
            </a:r>
          </a:p>
        </p:txBody>
      </p:sp>
      <p:pic>
        <p:nvPicPr>
          <p:cNvPr id="4098" name="Picture 2" descr="Bank - Free business icons">
            <a:extLst>
              <a:ext uri="{FF2B5EF4-FFF2-40B4-BE49-F238E27FC236}">
                <a16:creationId xmlns:a16="http://schemas.microsoft.com/office/drawing/2014/main" id="{9801E020-B869-2C1D-9292-2046156600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5150" y="4057829"/>
            <a:ext cx="3543300" cy="35433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1328</TotalTime>
  <Words>1051</Words>
  <Application>Microsoft Office PowerPoint</Application>
  <PresentationFormat>Custom</PresentationFormat>
  <Paragraphs>156</Paragraphs>
  <Slides>27</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Calibri</vt:lpstr>
      <vt:lpstr>Viner Hand ITC</vt:lpstr>
      <vt:lpstr>Malgun Gothic</vt:lpstr>
      <vt:lpstr>anthropic-sans</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Meet Our Team</dc:title>
  <dc:creator>farah walid</dc:creator>
  <cp:lastModifiedBy>Youssef Khaled youssef youssef</cp:lastModifiedBy>
  <cp:revision>16</cp:revision>
  <dcterms:created xsi:type="dcterms:W3CDTF">2006-08-16T00:00:00Z</dcterms:created>
  <dcterms:modified xsi:type="dcterms:W3CDTF">2026-09-04T20:43:15Z</dcterms:modified>
  <dc:identifier>DAGQ85K8Zw8</dc:identifier>
</cp:coreProperties>
</file>